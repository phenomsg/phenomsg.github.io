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8" r:id="rId3"/>
    <p:sldId id="259" r:id="rId4"/>
    <p:sldId id="260" r:id="rId5"/>
    <p:sldId id="261" r:id="rId6"/>
    <p:sldId id="262" r:id="rId7"/>
    <p:sldId id="272" r:id="rId8"/>
    <p:sldId id="273" r:id="rId9"/>
    <p:sldId id="264" r:id="rId10"/>
    <p:sldId id="270" r:id="rId11"/>
    <p:sldId id="271" r:id="rId12"/>
    <p:sldId id="278" r:id="rId13"/>
    <p:sldId id="279" r:id="rId14"/>
    <p:sldId id="266" r:id="rId15"/>
    <p:sldId id="267" r:id="rId16"/>
    <p:sldId id="268" r:id="rId17"/>
    <p:sldId id="269" r:id="rId18"/>
    <p:sldId id="275" r:id="rId19"/>
    <p:sldId id="280" r:id="rId20"/>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3024">
          <p15:clr>
            <a:srgbClr val="000000"/>
          </p15:clr>
        </p15:guide>
        <p15:guide id="2" pos="2304">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8CB7D-C63D-460A-88F6-896B35416FFA}" v="247" dt="2025-10-25T01:43:59.754"/>
    <p1510:client id="{50CA46EA-8307-9D7C-E85E-60B73133B052}" v="164" dt="2025-10-24T18:04:43.522"/>
    <p1510:client id="{61700568-07EB-B01A-F4EF-696748710CF9}" v="80" dt="2025-10-25T01:30:58.012"/>
    <p1510:client id="{7712155F-82AF-E6E8-8AF2-D20CCD94201A}" v="42" dt="2025-10-25T04:17:18.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26" y="53"/>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7315200" cy="9601200"/>
          </a:xfrm>
          <a:prstGeom prst="roundRect">
            <a:avLst>
              <a:gd name="adj" fmla="val 5"/>
            </a:avLst>
          </a:prstGeom>
          <a:solidFill>
            <a:srgbClr val="FFFFFF"/>
          </a:solidFill>
          <a:ln>
            <a:noFill/>
          </a:ln>
        </p:spPr>
        <p:txBody>
          <a:bodyPr spcFirstLastPara="1" wrap="square" lIns="96650" tIns="48325" rIns="96650" bIns="4832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 name="Google Shape;4;n"/>
          <p:cNvSpPr txBox="1"/>
          <p:nvPr/>
        </p:nvSpPr>
        <p:spPr>
          <a:xfrm>
            <a:off x="0" y="0"/>
            <a:ext cx="3170100" cy="479400"/>
          </a:xfrm>
          <a:prstGeom prst="rect">
            <a:avLst/>
          </a:prstGeom>
          <a:noFill/>
          <a:ln>
            <a:noFill/>
          </a:ln>
        </p:spPr>
        <p:txBody>
          <a:bodyPr spcFirstLastPara="1" wrap="square" lIns="96650" tIns="48325" rIns="96650" bIns="4832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 name="Google Shape;5;n"/>
          <p:cNvSpPr txBox="1">
            <a:spLocks noGrp="1"/>
          </p:cNvSpPr>
          <p:nvPr>
            <p:ph type="dt" idx="10"/>
          </p:nvPr>
        </p:nvSpPr>
        <p:spPr>
          <a:xfrm>
            <a:off x="4143375" y="0"/>
            <a:ext cx="3168600" cy="477900"/>
          </a:xfrm>
          <a:prstGeom prst="rect">
            <a:avLst/>
          </a:prstGeom>
          <a:noFill/>
          <a:ln>
            <a:noFill/>
          </a:ln>
        </p:spPr>
        <p:txBody>
          <a:bodyPr spcFirstLastPara="1" wrap="square" lIns="95125" tIns="49450" rIns="95125" bIns="4945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6" name="Google Shape;6;n"/>
          <p:cNvSpPr>
            <a:spLocks noGrp="1" noRot="1" noChangeAspect="1"/>
          </p:cNvSpPr>
          <p:nvPr>
            <p:ph type="sldImg" idx="2"/>
          </p:nvPr>
        </p:nvSpPr>
        <p:spPr>
          <a:xfrm>
            <a:off x="1257300" y="720725"/>
            <a:ext cx="4799100" cy="3598800"/>
          </a:xfrm>
          <a:custGeom>
            <a:avLst/>
            <a:gdLst/>
            <a:ahLst/>
            <a:cxnLst/>
            <a:rect l="l" t="t" r="r" b="b"/>
            <a:pathLst>
              <a:path w="120000" h="120000" extrusionOk="0">
                <a:moveTo>
                  <a:pt x="0" y="0"/>
                </a:moveTo>
                <a:lnTo>
                  <a:pt x="120000" y="0"/>
                </a:lnTo>
                <a:lnTo>
                  <a:pt x="120000" y="120000"/>
                </a:lnTo>
                <a:lnTo>
                  <a:pt x="0" y="120000"/>
                </a:lnTo>
                <a:close/>
              </a:path>
            </a:pathLst>
          </a:custGeom>
          <a:noFill/>
          <a:ln w="12600" cap="flat" cmpd="sng">
            <a:solidFill>
              <a:srgbClr val="000000"/>
            </a:solidFill>
            <a:prstDash val="solid"/>
            <a:miter lim="800000"/>
            <a:headEnd type="none" w="sm" len="sm"/>
            <a:tailEnd type="none" w="sm" len="sm"/>
          </a:ln>
        </p:spPr>
        <p:txBody>
          <a:bodyPr/>
          <a:lstStyle/>
          <a:p>
            <a:endParaRPr lang="en-US"/>
          </a:p>
        </p:txBody>
      </p:sp>
      <p:sp>
        <p:nvSpPr>
          <p:cNvPr id="7" name="Google Shape;7;n"/>
          <p:cNvSpPr txBox="1">
            <a:spLocks noGrp="1"/>
          </p:cNvSpPr>
          <p:nvPr>
            <p:ph type="body" idx="1"/>
          </p:nvPr>
        </p:nvSpPr>
        <p:spPr>
          <a:xfrm>
            <a:off x="731837" y="4560887"/>
            <a:ext cx="5850000" cy="4317900"/>
          </a:xfrm>
          <a:prstGeom prst="rect">
            <a:avLst/>
          </a:prstGeom>
          <a:noFill/>
          <a:ln>
            <a:noFill/>
          </a:ln>
        </p:spPr>
        <p:txBody>
          <a:bodyPr spcFirstLastPara="1" wrap="square" lIns="95125" tIns="49450" rIns="95125" bIns="494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 name="Google Shape;8;n"/>
          <p:cNvSpPr txBox="1"/>
          <p:nvPr/>
        </p:nvSpPr>
        <p:spPr>
          <a:xfrm>
            <a:off x="0" y="9120187"/>
            <a:ext cx="3170100" cy="479400"/>
          </a:xfrm>
          <a:prstGeom prst="rect">
            <a:avLst/>
          </a:prstGeom>
          <a:noFill/>
          <a:ln>
            <a:noFill/>
          </a:ln>
        </p:spPr>
        <p:txBody>
          <a:bodyPr spcFirstLastPara="1" wrap="square" lIns="96650" tIns="48325" rIns="96650" bIns="4832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9" name="Google Shape;9;n"/>
          <p:cNvSpPr txBox="1">
            <a:spLocks noGrp="1"/>
          </p:cNvSpPr>
          <p:nvPr>
            <p:ph type="sldNum" idx="12"/>
          </p:nvPr>
        </p:nvSpPr>
        <p:spPr>
          <a:xfrm>
            <a:off x="4143375" y="9120187"/>
            <a:ext cx="3168600" cy="477900"/>
          </a:xfrm>
          <a:prstGeom prst="rect">
            <a:avLst/>
          </a:prstGeom>
          <a:noFill/>
          <a:ln>
            <a:noFill/>
          </a:ln>
        </p:spPr>
        <p:txBody>
          <a:bodyPr spcFirstLastPara="1" wrap="square" lIns="95125" tIns="49450" rIns="95125" bIns="49450"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US" sz="1300" b="0" i="0" u="none">
                <a:solidFill>
                  <a:srgbClr val="000000"/>
                </a:solidFill>
                <a:latin typeface="Calibri"/>
                <a:ea typeface="Calibri"/>
                <a:cs typeface="Calibri"/>
                <a:sym typeface="Calibri"/>
              </a:rPr>
              <a:t>‹#›</a:t>
            </a:fld>
            <a:endParaRPr/>
          </a:p>
        </p:txBody>
      </p:sp>
    </p:spTree>
    <p:extLst>
      <p:ext uri="{BB962C8B-B14F-4D97-AF65-F5344CB8AC3E}">
        <p14:creationId xmlns:p14="http://schemas.microsoft.com/office/powerpoint/2010/main" val="22405301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p:nvPr/>
        </p:nvSpPr>
        <p:spPr>
          <a:xfrm>
            <a:off x="4143375" y="9120187"/>
            <a:ext cx="3168600" cy="477900"/>
          </a:xfrm>
          <a:prstGeom prst="rect">
            <a:avLst/>
          </a:prstGeom>
          <a:noFill/>
          <a:ln>
            <a:noFill/>
          </a:ln>
        </p:spPr>
        <p:txBody>
          <a:bodyPr spcFirstLastPara="1" wrap="square" lIns="95125" tIns="49450" rIns="95125" bIns="49450"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US" sz="1300" b="0" i="0" u="none">
                <a:solidFill>
                  <a:srgbClr val="000000"/>
                </a:solidFill>
                <a:latin typeface="Calibri"/>
                <a:ea typeface="Calibri"/>
                <a:cs typeface="Calibri"/>
                <a:sym typeface="Calibri"/>
              </a:rPr>
              <a:t>1</a:t>
            </a:fld>
            <a:endParaRPr/>
          </a:p>
        </p:txBody>
      </p:sp>
      <p:sp>
        <p:nvSpPr>
          <p:cNvPr id="76" name="Google Shape;76;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txBody>
          <a:bodyPr/>
          <a:lstStyle/>
          <a:p>
            <a:endParaRPr lang="en-US"/>
          </a:p>
        </p:txBody>
      </p:sp>
      <p:sp>
        <p:nvSpPr>
          <p:cNvPr id="77" name="Google Shape;77;p1:notes"/>
          <p:cNvSpPr txBox="1">
            <a:spLocks noGrp="1"/>
          </p:cNvSpPr>
          <p:nvPr>
            <p:ph type="body" idx="1"/>
          </p:nvPr>
        </p:nvSpPr>
        <p:spPr>
          <a:xfrm>
            <a:off x="731837" y="4560887"/>
            <a:ext cx="5851500" cy="4319700"/>
          </a:xfrm>
          <a:prstGeom prst="rect">
            <a:avLst/>
          </a:prstGeom>
          <a:noFill/>
          <a:ln>
            <a:noFill/>
          </a:ln>
        </p:spPr>
        <p:txBody>
          <a:bodyPr spcFirstLastPara="1" wrap="square" lIns="95125" tIns="49450" rIns="95125" bIns="4945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77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p:nvPr/>
        </p:nvSpPr>
        <p:spPr>
          <a:xfrm>
            <a:off x="4143375" y="9120187"/>
            <a:ext cx="3168600" cy="477900"/>
          </a:xfrm>
          <a:prstGeom prst="rect">
            <a:avLst/>
          </a:prstGeom>
          <a:noFill/>
          <a:ln>
            <a:noFill/>
          </a:ln>
        </p:spPr>
        <p:txBody>
          <a:bodyPr spcFirstLastPara="1" wrap="square" lIns="95125" tIns="49450" rIns="95125" bIns="49450"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US" sz="1300" b="0" i="0" u="none">
                <a:solidFill>
                  <a:srgbClr val="000000"/>
                </a:solidFill>
                <a:latin typeface="Calibri"/>
                <a:ea typeface="Calibri"/>
                <a:cs typeface="Calibri"/>
                <a:sym typeface="Calibri"/>
              </a:rPr>
              <a:t>2</a:t>
            </a:fld>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txBody>
          <a:bodyPr/>
          <a:lstStyle/>
          <a:p>
            <a:endParaRPr lang="en-US"/>
          </a:p>
        </p:txBody>
      </p:sp>
      <p:sp>
        <p:nvSpPr>
          <p:cNvPr id="96" name="Google Shape;96;p3:notes"/>
          <p:cNvSpPr txBox="1">
            <a:spLocks noGrp="1"/>
          </p:cNvSpPr>
          <p:nvPr>
            <p:ph type="body" idx="1"/>
          </p:nvPr>
        </p:nvSpPr>
        <p:spPr>
          <a:xfrm>
            <a:off x="731837" y="4560887"/>
            <a:ext cx="5851500" cy="4319700"/>
          </a:xfrm>
          <a:prstGeom prst="rect">
            <a:avLst/>
          </a:prstGeom>
          <a:noFill/>
          <a:ln>
            <a:noFill/>
          </a:ln>
        </p:spPr>
        <p:txBody>
          <a:bodyPr spcFirstLastPara="1" wrap="square" lIns="95125" tIns="49450" rIns="95125" bIns="4945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0901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8481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60184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20" name="Google Shape;120;p6: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04408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21433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xmlns="" id="{0D33A999-3324-B12A-89B2-503C611414A9}"/>
            </a:ext>
          </a:extLst>
        </p:cNvPr>
        <p:cNvGrpSpPr/>
        <p:nvPr/>
      </p:nvGrpSpPr>
      <p:grpSpPr>
        <a:xfrm>
          <a:off x="0" y="0"/>
          <a:ext cx="0" cy="0"/>
          <a:chOff x="0" y="0"/>
          <a:chExt cx="0" cy="0"/>
        </a:xfrm>
      </p:grpSpPr>
      <p:sp>
        <p:nvSpPr>
          <p:cNvPr id="135" name="Google Shape;135;p8:notes">
            <a:extLst>
              <a:ext uri="{FF2B5EF4-FFF2-40B4-BE49-F238E27FC236}">
                <a16:creationId xmlns:a16="http://schemas.microsoft.com/office/drawing/2014/main" xmlns="" id="{E92D9CBF-89AA-C038-616C-AB03DE3CB022}"/>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36" name="Google Shape;136;p8:notes">
            <a:extLst>
              <a:ext uri="{FF2B5EF4-FFF2-40B4-BE49-F238E27FC236}">
                <a16:creationId xmlns:a16="http://schemas.microsoft.com/office/drawing/2014/main" xmlns="" id="{E0236E9A-5E0B-E0A4-0B89-5F8375456A4D}"/>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18409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xmlns="" id="{BF79DB3C-AC92-57D5-323E-F9D2346BBB15}"/>
            </a:ext>
          </a:extLst>
        </p:cNvPr>
        <p:cNvGrpSpPr/>
        <p:nvPr/>
      </p:nvGrpSpPr>
      <p:grpSpPr>
        <a:xfrm>
          <a:off x="0" y="0"/>
          <a:ext cx="0" cy="0"/>
          <a:chOff x="0" y="0"/>
          <a:chExt cx="0" cy="0"/>
        </a:xfrm>
      </p:grpSpPr>
      <p:sp>
        <p:nvSpPr>
          <p:cNvPr id="135" name="Google Shape;135;p8:notes">
            <a:extLst>
              <a:ext uri="{FF2B5EF4-FFF2-40B4-BE49-F238E27FC236}">
                <a16:creationId xmlns:a16="http://schemas.microsoft.com/office/drawing/2014/main" xmlns="" id="{71B0093E-6321-9F0B-1B37-DA75ACDEE555}"/>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36" name="Google Shape;136;p8:notes">
            <a:extLst>
              <a:ext uri="{FF2B5EF4-FFF2-40B4-BE49-F238E27FC236}">
                <a16:creationId xmlns:a16="http://schemas.microsoft.com/office/drawing/2014/main" xmlns="" id="{7A11E0A0-47B2-C36E-6930-A079CBFF6C63}"/>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74285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15702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xmlns="" id="{52DD5CF5-D07B-6593-0403-568C54724812}"/>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xmlns="" id="{1CB86F36-D2EB-CE79-E292-A0C810BA59B8}"/>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xmlns="" id="{C9FCFB3A-A8C8-D2B8-4946-37968F9EF05E}"/>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79269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xmlns="" id="{431FC37D-8D75-0C4E-F874-36654EED4D99}"/>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xmlns="" id="{913AEC31-38BD-B946-6521-243A8B675CD6}"/>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xmlns="" id="{A7E78FBF-9FAC-4C35-2197-F72353205FEF}"/>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5117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xmlns="" id="{D3D4237C-A08A-AB8C-9ACC-6C8D32B46723}"/>
            </a:ext>
          </a:extLst>
        </p:cNvPr>
        <p:cNvGrpSpPr/>
        <p:nvPr/>
      </p:nvGrpSpPr>
      <p:grpSpPr>
        <a:xfrm>
          <a:off x="0" y="0"/>
          <a:ext cx="0" cy="0"/>
          <a:chOff x="0" y="0"/>
          <a:chExt cx="0" cy="0"/>
        </a:xfrm>
      </p:grpSpPr>
      <p:sp>
        <p:nvSpPr>
          <p:cNvPr id="151" name="Google Shape;151;p10:notes">
            <a:extLst>
              <a:ext uri="{FF2B5EF4-FFF2-40B4-BE49-F238E27FC236}">
                <a16:creationId xmlns:a16="http://schemas.microsoft.com/office/drawing/2014/main" xmlns="" id="{D1FC3DCA-7D24-DAEB-C325-54ED85807454}"/>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52" name="Google Shape;152;p10:notes">
            <a:extLst>
              <a:ext uri="{FF2B5EF4-FFF2-40B4-BE49-F238E27FC236}">
                <a16:creationId xmlns:a16="http://schemas.microsoft.com/office/drawing/2014/main" xmlns="" id="{2E84D538-C1B8-E07F-0A68-5313D28405F6}"/>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7908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xmlns="" id="{FB147AF7-4018-496F-E135-24FDE5BC027A}"/>
            </a:ext>
          </a:extLst>
        </p:cNvPr>
        <p:cNvGrpSpPr/>
        <p:nvPr/>
      </p:nvGrpSpPr>
      <p:grpSpPr>
        <a:xfrm>
          <a:off x="0" y="0"/>
          <a:ext cx="0" cy="0"/>
          <a:chOff x="0" y="0"/>
          <a:chExt cx="0" cy="0"/>
        </a:xfrm>
      </p:grpSpPr>
      <p:sp>
        <p:nvSpPr>
          <p:cNvPr id="151" name="Google Shape;151;p10:notes">
            <a:extLst>
              <a:ext uri="{FF2B5EF4-FFF2-40B4-BE49-F238E27FC236}">
                <a16:creationId xmlns:a16="http://schemas.microsoft.com/office/drawing/2014/main" xmlns="" id="{E6A78A89-261D-AC3A-8B27-E1ED42540791}"/>
              </a:ext>
            </a:extLst>
          </p:cNvPr>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52" name="Google Shape;152;p10:notes">
            <a:extLst>
              <a:ext uri="{FF2B5EF4-FFF2-40B4-BE49-F238E27FC236}">
                <a16:creationId xmlns:a16="http://schemas.microsoft.com/office/drawing/2014/main" xmlns="" id="{3AE6258F-F66A-C090-0846-84DADC16FD44}"/>
              </a:ext>
            </a:extLst>
          </p:cNvPr>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46510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60" name="Google Shape;160;p11: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17695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1970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803344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868300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77219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731837" y="4560887"/>
            <a:ext cx="5850000" cy="4317900"/>
          </a:xfrm>
          <a:prstGeom prst="rect">
            <a:avLst/>
          </a:prstGeom>
        </p:spPr>
        <p:txBody>
          <a:bodyPr spcFirstLastPara="1" wrap="square" lIns="95125" tIns="49450" rIns="95125" bIns="49450"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1257300" y="720725"/>
            <a:ext cx="4799013" cy="359886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5868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2"/>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rot="5400000">
            <a:off x="4659213" y="2098688"/>
            <a:ext cx="5996100" cy="20559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rot="5400000">
            <a:off x="469050" y="116738"/>
            <a:ext cx="5996100" cy="60198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a:lvl1pPr>
            <a:lvl2pPr marL="914400" lvl="1" indent="-228600" algn="l" rtl="0">
              <a:spcBef>
                <a:spcPts val="700"/>
              </a:spcBef>
              <a:spcAft>
                <a:spcPts val="0"/>
              </a:spcAft>
              <a:buSzPts val="1400"/>
              <a:buNone/>
              <a:defRPr/>
            </a:lvl2pPr>
            <a:lvl3pPr marL="1371600" lvl="2" indent="-228600" algn="l" rtl="0">
              <a:spcBef>
                <a:spcPts val="600"/>
              </a:spcBef>
              <a:spcAft>
                <a:spcPts val="0"/>
              </a:spcAft>
              <a:buSzPts val="1400"/>
              <a:buNone/>
              <a:defRPr/>
            </a:lvl3pPr>
            <a:lvl4pPr marL="1828800" lvl="3" indent="-228600" algn="l" rtl="0">
              <a:spcBef>
                <a:spcPts val="500"/>
              </a:spcBef>
              <a:spcAft>
                <a:spcPts val="0"/>
              </a:spcAft>
              <a:buSzPts val="1400"/>
              <a:buNone/>
              <a:defRPr/>
            </a:lvl4pPr>
            <a:lvl5pPr marL="2286000" lvl="4" indent="-228600" algn="l" rtl="0">
              <a:spcBef>
                <a:spcPts val="500"/>
              </a:spcBef>
              <a:spcAft>
                <a:spcPts val="0"/>
              </a:spcAft>
              <a:buSzPts val="1400"/>
              <a:buNone/>
              <a:defRPr/>
            </a:lvl5pPr>
            <a:lvl6pPr marL="2743200" lvl="5" indent="-228600" algn="l" rtl="0">
              <a:spcBef>
                <a:spcPts val="500"/>
              </a:spcBef>
              <a:spcAft>
                <a:spcPts val="0"/>
              </a:spcAft>
              <a:buSzPts val="1400"/>
              <a:buNone/>
              <a:defRPr/>
            </a:lvl6pPr>
            <a:lvl7pPr marL="3200400" lvl="6" indent="-228600" algn="l" rtl="0">
              <a:spcBef>
                <a:spcPts val="500"/>
              </a:spcBef>
              <a:spcAft>
                <a:spcPts val="0"/>
              </a:spcAft>
              <a:buSzPts val="1400"/>
              <a:buNone/>
              <a:defRPr/>
            </a:lvl7pPr>
            <a:lvl8pPr marL="3657600" lvl="7" indent="-228600" algn="l" rtl="0">
              <a:spcBef>
                <a:spcPts val="500"/>
              </a:spcBef>
              <a:spcAft>
                <a:spcPts val="0"/>
              </a:spcAft>
              <a:buSzPts val="1400"/>
              <a:buNone/>
              <a:defRPr/>
            </a:lvl8pPr>
            <a:lvl9pPr marL="4114800" lvl="8" indent="-228600" algn="l" rtl="0">
              <a:spcBef>
                <a:spcPts val="500"/>
              </a:spcBef>
              <a:spcAft>
                <a:spcPts val="0"/>
              </a:spcAft>
              <a:buSzPts val="1400"/>
              <a:buNone/>
              <a:defRPr/>
            </a:lvl9pPr>
          </a:lstStyle>
          <a:p>
            <a:endParaRPr/>
          </a:p>
        </p:txBody>
      </p:sp>
      <p:sp>
        <p:nvSpPr>
          <p:cNvPr id="22" name="Google Shape;22;p3"/>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457200" y="128587"/>
            <a:ext cx="8228100" cy="14334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 name="Google Shape;26;p4"/>
          <p:cNvSpPr txBox="1">
            <a:spLocks noGrp="1"/>
          </p:cNvSpPr>
          <p:nvPr>
            <p:ph type="body" idx="1"/>
          </p:nvPr>
        </p:nvSpPr>
        <p:spPr>
          <a:xfrm rot="5400000">
            <a:off x="2309012" y="-251700"/>
            <a:ext cx="4524300" cy="82281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a:lvl1pPr>
            <a:lvl2pPr marL="914400" lvl="1" indent="-228600" algn="l" rtl="0">
              <a:spcBef>
                <a:spcPts val="700"/>
              </a:spcBef>
              <a:spcAft>
                <a:spcPts val="0"/>
              </a:spcAft>
              <a:buSzPts val="1400"/>
              <a:buNone/>
              <a:defRPr/>
            </a:lvl2pPr>
            <a:lvl3pPr marL="1371600" lvl="2" indent="-228600" algn="l" rtl="0">
              <a:spcBef>
                <a:spcPts val="600"/>
              </a:spcBef>
              <a:spcAft>
                <a:spcPts val="0"/>
              </a:spcAft>
              <a:buSzPts val="1400"/>
              <a:buNone/>
              <a:defRPr/>
            </a:lvl3pPr>
            <a:lvl4pPr marL="1828800" lvl="3" indent="-228600" algn="l" rtl="0">
              <a:spcBef>
                <a:spcPts val="500"/>
              </a:spcBef>
              <a:spcAft>
                <a:spcPts val="0"/>
              </a:spcAft>
              <a:buSzPts val="1400"/>
              <a:buNone/>
              <a:defRPr/>
            </a:lvl4pPr>
            <a:lvl5pPr marL="2286000" lvl="4" indent="-228600" algn="l" rtl="0">
              <a:spcBef>
                <a:spcPts val="500"/>
              </a:spcBef>
              <a:spcAft>
                <a:spcPts val="0"/>
              </a:spcAft>
              <a:buSzPts val="1400"/>
              <a:buNone/>
              <a:defRPr/>
            </a:lvl5pPr>
            <a:lvl6pPr marL="2743200" lvl="5" indent="-228600" algn="l" rtl="0">
              <a:spcBef>
                <a:spcPts val="500"/>
              </a:spcBef>
              <a:spcAft>
                <a:spcPts val="0"/>
              </a:spcAft>
              <a:buSzPts val="1400"/>
              <a:buNone/>
              <a:defRPr/>
            </a:lvl6pPr>
            <a:lvl7pPr marL="3200400" lvl="6" indent="-228600" algn="l" rtl="0">
              <a:spcBef>
                <a:spcPts val="500"/>
              </a:spcBef>
              <a:spcAft>
                <a:spcPts val="0"/>
              </a:spcAft>
              <a:buSzPts val="1400"/>
              <a:buNone/>
              <a:defRPr/>
            </a:lvl7pPr>
            <a:lvl8pPr marL="3657600" lvl="7" indent="-228600" algn="l" rtl="0">
              <a:spcBef>
                <a:spcPts val="500"/>
              </a:spcBef>
              <a:spcAft>
                <a:spcPts val="0"/>
              </a:spcAft>
              <a:buSzPts val="1400"/>
              <a:buNone/>
              <a:defRPr/>
            </a:lvl8pPr>
            <a:lvl9pPr marL="4114800" lvl="8" indent="-228600" algn="l" rtl="0">
              <a:spcBef>
                <a:spcPts val="500"/>
              </a:spcBef>
              <a:spcAft>
                <a:spcPts val="0"/>
              </a:spcAft>
              <a:buSzPts val="1400"/>
              <a:buNone/>
              <a:defRPr/>
            </a:lvl9pPr>
          </a:lstStyle>
          <a:p>
            <a:endParaRPr/>
          </a:p>
        </p:txBody>
      </p:sp>
      <p:sp>
        <p:nvSpPr>
          <p:cNvPr id="27" name="Google Shape;27;p4"/>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792288" y="4800600"/>
            <a:ext cx="5486400" cy="5667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 name="Google Shape;31;p5"/>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32" name="Google Shape;32;p5"/>
          <p:cNvSpPr txBox="1">
            <a:spLocks noGrp="1"/>
          </p:cNvSpPr>
          <p:nvPr>
            <p:ph type="body" idx="1"/>
          </p:nvPr>
        </p:nvSpPr>
        <p:spPr>
          <a:xfrm>
            <a:off x="1792288" y="5367338"/>
            <a:ext cx="5486400" cy="8049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1400"/>
            </a:lvl1pPr>
            <a:lvl2pPr marL="914400" lvl="1" indent="-228600" algn="l" rtl="0">
              <a:spcBef>
                <a:spcPts val="700"/>
              </a:spcBef>
              <a:spcAft>
                <a:spcPts val="0"/>
              </a:spcAft>
              <a:buSzPts val="1200"/>
              <a:buNone/>
              <a:defRPr sz="1200"/>
            </a:lvl2pPr>
            <a:lvl3pPr marL="1371600" lvl="2" indent="-228600" algn="l" rtl="0">
              <a:spcBef>
                <a:spcPts val="600"/>
              </a:spcBef>
              <a:spcAft>
                <a:spcPts val="0"/>
              </a:spcAft>
              <a:buSzPts val="1000"/>
              <a:buNone/>
              <a:defRPr sz="1000"/>
            </a:lvl3pPr>
            <a:lvl4pPr marL="1828800" lvl="3" indent="-228600" algn="l" rtl="0">
              <a:spcBef>
                <a:spcPts val="500"/>
              </a:spcBef>
              <a:spcAft>
                <a:spcPts val="0"/>
              </a:spcAft>
              <a:buSzPts val="900"/>
              <a:buNone/>
              <a:defRPr sz="900"/>
            </a:lvl4pPr>
            <a:lvl5pPr marL="2286000" lvl="4" indent="-228600" algn="l" rtl="0">
              <a:spcBef>
                <a:spcPts val="500"/>
              </a:spcBef>
              <a:spcAft>
                <a:spcPts val="0"/>
              </a:spcAft>
              <a:buSzPts val="900"/>
              <a:buNone/>
              <a:defRPr sz="900"/>
            </a:lvl5pPr>
            <a:lvl6pPr marL="2743200" lvl="5" indent="-228600" algn="l" rtl="0">
              <a:spcBef>
                <a:spcPts val="500"/>
              </a:spcBef>
              <a:spcAft>
                <a:spcPts val="0"/>
              </a:spcAft>
              <a:buSzPts val="900"/>
              <a:buNone/>
              <a:defRPr sz="900"/>
            </a:lvl6pPr>
            <a:lvl7pPr marL="3200400" lvl="6" indent="-228600" algn="l" rtl="0">
              <a:spcBef>
                <a:spcPts val="500"/>
              </a:spcBef>
              <a:spcAft>
                <a:spcPts val="0"/>
              </a:spcAft>
              <a:buSzPts val="900"/>
              <a:buNone/>
              <a:defRPr sz="900"/>
            </a:lvl7pPr>
            <a:lvl8pPr marL="3657600" lvl="7" indent="-228600" algn="l" rtl="0">
              <a:spcBef>
                <a:spcPts val="500"/>
              </a:spcBef>
              <a:spcAft>
                <a:spcPts val="0"/>
              </a:spcAft>
              <a:buSzPts val="900"/>
              <a:buNone/>
              <a:defRPr sz="900"/>
            </a:lvl8pPr>
            <a:lvl9pPr marL="4114800" lvl="8" indent="-228600" algn="l" rtl="0">
              <a:spcBef>
                <a:spcPts val="500"/>
              </a:spcBef>
              <a:spcAft>
                <a:spcPts val="0"/>
              </a:spcAft>
              <a:buSzPts val="900"/>
              <a:buNone/>
              <a:defRPr sz="900"/>
            </a:lvl9pPr>
          </a:lstStyle>
          <a:p>
            <a:endParaRPr/>
          </a:p>
        </p:txBody>
      </p:sp>
      <p:sp>
        <p:nvSpPr>
          <p:cNvPr id="33" name="Google Shape;33;p5"/>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457200" y="273050"/>
            <a:ext cx="3008400" cy="11622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3575050" y="273050"/>
            <a:ext cx="5111700" cy="58530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3200"/>
            </a:lvl1pPr>
            <a:lvl2pPr marL="914400" lvl="1" indent="-228600" algn="l" rtl="0">
              <a:spcBef>
                <a:spcPts val="700"/>
              </a:spcBef>
              <a:spcAft>
                <a:spcPts val="0"/>
              </a:spcAft>
              <a:buSzPts val="1400"/>
              <a:buNone/>
              <a:defRPr sz="2800"/>
            </a:lvl2pPr>
            <a:lvl3pPr marL="1371600" lvl="2" indent="-228600" algn="l" rtl="0">
              <a:spcBef>
                <a:spcPts val="600"/>
              </a:spcBef>
              <a:spcAft>
                <a:spcPts val="0"/>
              </a:spcAft>
              <a:buSzPts val="1400"/>
              <a:buNone/>
              <a:defRPr sz="2400"/>
            </a:lvl3pPr>
            <a:lvl4pPr marL="1828800" lvl="3" indent="-228600" algn="l" rtl="0">
              <a:spcBef>
                <a:spcPts val="500"/>
              </a:spcBef>
              <a:spcAft>
                <a:spcPts val="0"/>
              </a:spcAft>
              <a:buSzPts val="1400"/>
              <a:buNone/>
              <a:defRPr sz="2000"/>
            </a:lvl4pPr>
            <a:lvl5pPr marL="2286000" lvl="4" indent="-228600" algn="l" rtl="0">
              <a:spcBef>
                <a:spcPts val="500"/>
              </a:spcBef>
              <a:spcAft>
                <a:spcPts val="0"/>
              </a:spcAft>
              <a:buSzPts val="1400"/>
              <a:buNone/>
              <a:defRPr sz="2000"/>
            </a:lvl5pPr>
            <a:lvl6pPr marL="2743200" lvl="5" indent="-228600" algn="l" rtl="0">
              <a:spcBef>
                <a:spcPts val="500"/>
              </a:spcBef>
              <a:spcAft>
                <a:spcPts val="0"/>
              </a:spcAft>
              <a:buSzPts val="1400"/>
              <a:buNone/>
              <a:defRPr sz="2000"/>
            </a:lvl6pPr>
            <a:lvl7pPr marL="3200400" lvl="6" indent="-228600" algn="l" rtl="0">
              <a:spcBef>
                <a:spcPts val="500"/>
              </a:spcBef>
              <a:spcAft>
                <a:spcPts val="0"/>
              </a:spcAft>
              <a:buSzPts val="1400"/>
              <a:buNone/>
              <a:defRPr sz="2000"/>
            </a:lvl7pPr>
            <a:lvl8pPr marL="3657600" lvl="7" indent="-228600" algn="l" rtl="0">
              <a:spcBef>
                <a:spcPts val="500"/>
              </a:spcBef>
              <a:spcAft>
                <a:spcPts val="0"/>
              </a:spcAft>
              <a:buSzPts val="1400"/>
              <a:buNone/>
              <a:defRPr sz="2000"/>
            </a:lvl8pPr>
            <a:lvl9pPr marL="4114800" lvl="8" indent="-228600" algn="l" rtl="0">
              <a:spcBef>
                <a:spcPts val="500"/>
              </a:spcBef>
              <a:spcAft>
                <a:spcPts val="0"/>
              </a:spcAft>
              <a:buSzPts val="1400"/>
              <a:buNone/>
              <a:defRPr sz="2000"/>
            </a:lvl9pPr>
          </a:lstStyle>
          <a:p>
            <a:endParaRPr/>
          </a:p>
        </p:txBody>
      </p:sp>
      <p:sp>
        <p:nvSpPr>
          <p:cNvPr id="38" name="Google Shape;38;p6"/>
          <p:cNvSpPr txBox="1">
            <a:spLocks noGrp="1"/>
          </p:cNvSpPr>
          <p:nvPr>
            <p:ph type="body" idx="2"/>
          </p:nvPr>
        </p:nvSpPr>
        <p:spPr>
          <a:xfrm>
            <a:off x="457200" y="1435100"/>
            <a:ext cx="3008400" cy="46911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1400"/>
            </a:lvl1pPr>
            <a:lvl2pPr marL="914400" lvl="1" indent="-228600" algn="l" rtl="0">
              <a:spcBef>
                <a:spcPts val="700"/>
              </a:spcBef>
              <a:spcAft>
                <a:spcPts val="0"/>
              </a:spcAft>
              <a:buSzPts val="1200"/>
              <a:buNone/>
              <a:defRPr sz="1200"/>
            </a:lvl2pPr>
            <a:lvl3pPr marL="1371600" lvl="2" indent="-228600" algn="l" rtl="0">
              <a:spcBef>
                <a:spcPts val="600"/>
              </a:spcBef>
              <a:spcAft>
                <a:spcPts val="0"/>
              </a:spcAft>
              <a:buSzPts val="1000"/>
              <a:buNone/>
              <a:defRPr sz="1000"/>
            </a:lvl3pPr>
            <a:lvl4pPr marL="1828800" lvl="3" indent="-228600" algn="l" rtl="0">
              <a:spcBef>
                <a:spcPts val="500"/>
              </a:spcBef>
              <a:spcAft>
                <a:spcPts val="0"/>
              </a:spcAft>
              <a:buSzPts val="900"/>
              <a:buNone/>
              <a:defRPr sz="900"/>
            </a:lvl4pPr>
            <a:lvl5pPr marL="2286000" lvl="4" indent="-228600" algn="l" rtl="0">
              <a:spcBef>
                <a:spcPts val="500"/>
              </a:spcBef>
              <a:spcAft>
                <a:spcPts val="0"/>
              </a:spcAft>
              <a:buSzPts val="900"/>
              <a:buNone/>
              <a:defRPr sz="900"/>
            </a:lvl5pPr>
            <a:lvl6pPr marL="2743200" lvl="5" indent="-228600" algn="l" rtl="0">
              <a:spcBef>
                <a:spcPts val="500"/>
              </a:spcBef>
              <a:spcAft>
                <a:spcPts val="0"/>
              </a:spcAft>
              <a:buSzPts val="900"/>
              <a:buNone/>
              <a:defRPr sz="900"/>
            </a:lvl6pPr>
            <a:lvl7pPr marL="3200400" lvl="6" indent="-228600" algn="l" rtl="0">
              <a:spcBef>
                <a:spcPts val="500"/>
              </a:spcBef>
              <a:spcAft>
                <a:spcPts val="0"/>
              </a:spcAft>
              <a:buSzPts val="900"/>
              <a:buNone/>
              <a:defRPr sz="900"/>
            </a:lvl7pPr>
            <a:lvl8pPr marL="3657600" lvl="7" indent="-228600" algn="l" rtl="0">
              <a:spcBef>
                <a:spcPts val="500"/>
              </a:spcBef>
              <a:spcAft>
                <a:spcPts val="0"/>
              </a:spcAft>
              <a:buSzPts val="900"/>
              <a:buNone/>
              <a:defRPr sz="900"/>
            </a:lvl8pPr>
            <a:lvl9pPr marL="4114800" lvl="8" indent="-228600" algn="l" rtl="0">
              <a:spcBef>
                <a:spcPts val="500"/>
              </a:spcBef>
              <a:spcAft>
                <a:spcPts val="0"/>
              </a:spcAft>
              <a:buSzPts val="900"/>
              <a:buNone/>
              <a:defRPr sz="900"/>
            </a:lvl9pPr>
          </a:lstStyle>
          <a:p>
            <a:endParaRPr/>
          </a:p>
        </p:txBody>
      </p:sp>
      <p:sp>
        <p:nvSpPr>
          <p:cNvPr id="39" name="Google Shape;39;p6"/>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457200" y="128587"/>
            <a:ext cx="8228100" cy="14334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 name="Google Shape;43;p7"/>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57200" y="274638"/>
            <a:ext cx="8229600" cy="11430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535113"/>
            <a:ext cx="4040100" cy="639900"/>
          </a:xfrm>
          <a:prstGeom prst="rect">
            <a:avLst/>
          </a:prstGeom>
          <a:noFill/>
          <a:ln>
            <a:noFill/>
          </a:ln>
        </p:spPr>
        <p:txBody>
          <a:bodyPr spcFirstLastPara="1" wrap="square" lIns="90000" tIns="46800" rIns="90000" bIns="46800" anchor="b" anchorCtr="0">
            <a:noAutofit/>
          </a:bodyPr>
          <a:lstStyle>
            <a:lvl1pPr marL="457200" lvl="0" indent="-228600" algn="l" rtl="0">
              <a:spcBef>
                <a:spcPts val="800"/>
              </a:spcBef>
              <a:spcAft>
                <a:spcPts val="0"/>
              </a:spcAft>
              <a:buSzPts val="2400"/>
              <a:buNone/>
              <a:defRPr sz="2400" b="1"/>
            </a:lvl1pPr>
            <a:lvl2pPr marL="914400" lvl="1" indent="-228600" algn="l" rtl="0">
              <a:spcBef>
                <a:spcPts val="700"/>
              </a:spcBef>
              <a:spcAft>
                <a:spcPts val="0"/>
              </a:spcAft>
              <a:buSzPts val="2000"/>
              <a:buNone/>
              <a:defRPr sz="2000" b="1"/>
            </a:lvl2pPr>
            <a:lvl3pPr marL="1371600" lvl="2" indent="-228600" algn="l" rtl="0">
              <a:spcBef>
                <a:spcPts val="600"/>
              </a:spcBef>
              <a:spcAft>
                <a:spcPts val="0"/>
              </a:spcAft>
              <a:buSzPts val="1800"/>
              <a:buNone/>
              <a:defRPr sz="1800" b="1"/>
            </a:lvl3pPr>
            <a:lvl4pPr marL="1828800" lvl="3" indent="-228600" algn="l" rtl="0">
              <a:spcBef>
                <a:spcPts val="500"/>
              </a:spcBef>
              <a:spcAft>
                <a:spcPts val="0"/>
              </a:spcAft>
              <a:buSzPts val="1600"/>
              <a:buNone/>
              <a:defRPr sz="1600" b="1"/>
            </a:lvl4pPr>
            <a:lvl5pPr marL="2286000" lvl="4" indent="-228600" algn="l" rtl="0">
              <a:spcBef>
                <a:spcPts val="500"/>
              </a:spcBef>
              <a:spcAft>
                <a:spcPts val="0"/>
              </a:spcAft>
              <a:buSzPts val="1600"/>
              <a:buNone/>
              <a:defRPr sz="1600" b="1"/>
            </a:lvl5pPr>
            <a:lvl6pPr marL="2743200" lvl="5" indent="-228600" algn="l" rtl="0">
              <a:spcBef>
                <a:spcPts val="500"/>
              </a:spcBef>
              <a:spcAft>
                <a:spcPts val="0"/>
              </a:spcAft>
              <a:buSzPts val="1600"/>
              <a:buNone/>
              <a:defRPr sz="1600" b="1"/>
            </a:lvl6pPr>
            <a:lvl7pPr marL="3200400" lvl="6" indent="-228600" algn="l" rtl="0">
              <a:spcBef>
                <a:spcPts val="500"/>
              </a:spcBef>
              <a:spcAft>
                <a:spcPts val="0"/>
              </a:spcAft>
              <a:buSzPts val="1600"/>
              <a:buNone/>
              <a:defRPr sz="1600" b="1"/>
            </a:lvl7pPr>
            <a:lvl8pPr marL="3657600" lvl="7" indent="-228600" algn="l" rtl="0">
              <a:spcBef>
                <a:spcPts val="500"/>
              </a:spcBef>
              <a:spcAft>
                <a:spcPts val="0"/>
              </a:spcAft>
              <a:buSzPts val="1600"/>
              <a:buNone/>
              <a:defRPr sz="1600" b="1"/>
            </a:lvl8pPr>
            <a:lvl9pPr marL="4114800" lvl="8" indent="-228600" algn="l" rtl="0">
              <a:spcBef>
                <a:spcPts val="500"/>
              </a:spcBef>
              <a:spcAft>
                <a:spcPts val="0"/>
              </a:spcAft>
              <a:buSzPts val="1600"/>
              <a:buNone/>
              <a:defRPr sz="1600" b="1"/>
            </a:lvl9pPr>
          </a:lstStyle>
          <a:p>
            <a:endParaRPr/>
          </a:p>
        </p:txBody>
      </p:sp>
      <p:sp>
        <p:nvSpPr>
          <p:cNvPr id="48" name="Google Shape;48;p8"/>
          <p:cNvSpPr txBox="1">
            <a:spLocks noGrp="1"/>
          </p:cNvSpPr>
          <p:nvPr>
            <p:ph type="body" idx="2"/>
          </p:nvPr>
        </p:nvSpPr>
        <p:spPr>
          <a:xfrm>
            <a:off x="457200" y="2174875"/>
            <a:ext cx="4040100" cy="3951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2400"/>
            </a:lvl1pPr>
            <a:lvl2pPr marL="914400" lvl="1" indent="-228600" algn="l" rtl="0">
              <a:spcBef>
                <a:spcPts val="700"/>
              </a:spcBef>
              <a:spcAft>
                <a:spcPts val="0"/>
              </a:spcAft>
              <a:buSzPts val="1400"/>
              <a:buNone/>
              <a:defRPr sz="2000"/>
            </a:lvl2pPr>
            <a:lvl3pPr marL="1371600" lvl="2" indent="-228600" algn="l" rtl="0">
              <a:spcBef>
                <a:spcPts val="600"/>
              </a:spcBef>
              <a:spcAft>
                <a:spcPts val="0"/>
              </a:spcAft>
              <a:buSzPts val="1400"/>
              <a:buNone/>
              <a:defRPr sz="1800"/>
            </a:lvl3pPr>
            <a:lvl4pPr marL="1828800" lvl="3" indent="-228600" algn="l" rtl="0">
              <a:spcBef>
                <a:spcPts val="500"/>
              </a:spcBef>
              <a:spcAft>
                <a:spcPts val="0"/>
              </a:spcAft>
              <a:buSzPts val="1400"/>
              <a:buNone/>
              <a:defRPr sz="1600"/>
            </a:lvl4pPr>
            <a:lvl5pPr marL="2286000" lvl="4" indent="-228600" algn="l" rtl="0">
              <a:spcBef>
                <a:spcPts val="500"/>
              </a:spcBef>
              <a:spcAft>
                <a:spcPts val="0"/>
              </a:spcAft>
              <a:buSzPts val="1400"/>
              <a:buNone/>
              <a:defRPr sz="1600"/>
            </a:lvl5pPr>
            <a:lvl6pPr marL="2743200" lvl="5" indent="-228600" algn="l" rtl="0">
              <a:spcBef>
                <a:spcPts val="500"/>
              </a:spcBef>
              <a:spcAft>
                <a:spcPts val="0"/>
              </a:spcAft>
              <a:buSzPts val="1400"/>
              <a:buNone/>
              <a:defRPr sz="1600"/>
            </a:lvl6pPr>
            <a:lvl7pPr marL="3200400" lvl="6" indent="-228600" algn="l" rtl="0">
              <a:spcBef>
                <a:spcPts val="500"/>
              </a:spcBef>
              <a:spcAft>
                <a:spcPts val="0"/>
              </a:spcAft>
              <a:buSzPts val="1400"/>
              <a:buNone/>
              <a:defRPr sz="1600"/>
            </a:lvl7pPr>
            <a:lvl8pPr marL="3657600" lvl="7" indent="-228600" algn="l" rtl="0">
              <a:spcBef>
                <a:spcPts val="500"/>
              </a:spcBef>
              <a:spcAft>
                <a:spcPts val="0"/>
              </a:spcAft>
              <a:buSzPts val="1400"/>
              <a:buNone/>
              <a:defRPr sz="1600"/>
            </a:lvl8pPr>
            <a:lvl9pPr marL="4114800" lvl="8" indent="-228600" algn="l" rtl="0">
              <a:spcBef>
                <a:spcPts val="500"/>
              </a:spcBef>
              <a:spcAft>
                <a:spcPts val="0"/>
              </a:spcAft>
              <a:buSzPts val="1400"/>
              <a:buNone/>
              <a:defRPr sz="1600"/>
            </a:lvl9pPr>
          </a:lstStyle>
          <a:p>
            <a:endParaRPr/>
          </a:p>
        </p:txBody>
      </p:sp>
      <p:sp>
        <p:nvSpPr>
          <p:cNvPr id="49" name="Google Shape;49;p8"/>
          <p:cNvSpPr txBox="1">
            <a:spLocks noGrp="1"/>
          </p:cNvSpPr>
          <p:nvPr>
            <p:ph type="body" idx="3"/>
          </p:nvPr>
        </p:nvSpPr>
        <p:spPr>
          <a:xfrm>
            <a:off x="4645025" y="1535113"/>
            <a:ext cx="4041900" cy="639900"/>
          </a:xfrm>
          <a:prstGeom prst="rect">
            <a:avLst/>
          </a:prstGeom>
          <a:noFill/>
          <a:ln>
            <a:noFill/>
          </a:ln>
        </p:spPr>
        <p:txBody>
          <a:bodyPr spcFirstLastPara="1" wrap="square" lIns="90000" tIns="46800" rIns="90000" bIns="46800" anchor="b" anchorCtr="0">
            <a:noAutofit/>
          </a:bodyPr>
          <a:lstStyle>
            <a:lvl1pPr marL="457200" lvl="0" indent="-228600" algn="l" rtl="0">
              <a:spcBef>
                <a:spcPts val="800"/>
              </a:spcBef>
              <a:spcAft>
                <a:spcPts val="0"/>
              </a:spcAft>
              <a:buSzPts val="2400"/>
              <a:buNone/>
              <a:defRPr sz="2400" b="1"/>
            </a:lvl1pPr>
            <a:lvl2pPr marL="914400" lvl="1" indent="-228600" algn="l" rtl="0">
              <a:spcBef>
                <a:spcPts val="700"/>
              </a:spcBef>
              <a:spcAft>
                <a:spcPts val="0"/>
              </a:spcAft>
              <a:buSzPts val="2000"/>
              <a:buNone/>
              <a:defRPr sz="2000" b="1"/>
            </a:lvl2pPr>
            <a:lvl3pPr marL="1371600" lvl="2" indent="-228600" algn="l" rtl="0">
              <a:spcBef>
                <a:spcPts val="600"/>
              </a:spcBef>
              <a:spcAft>
                <a:spcPts val="0"/>
              </a:spcAft>
              <a:buSzPts val="1800"/>
              <a:buNone/>
              <a:defRPr sz="1800" b="1"/>
            </a:lvl3pPr>
            <a:lvl4pPr marL="1828800" lvl="3" indent="-228600" algn="l" rtl="0">
              <a:spcBef>
                <a:spcPts val="500"/>
              </a:spcBef>
              <a:spcAft>
                <a:spcPts val="0"/>
              </a:spcAft>
              <a:buSzPts val="1600"/>
              <a:buNone/>
              <a:defRPr sz="1600" b="1"/>
            </a:lvl4pPr>
            <a:lvl5pPr marL="2286000" lvl="4" indent="-228600" algn="l" rtl="0">
              <a:spcBef>
                <a:spcPts val="500"/>
              </a:spcBef>
              <a:spcAft>
                <a:spcPts val="0"/>
              </a:spcAft>
              <a:buSzPts val="1600"/>
              <a:buNone/>
              <a:defRPr sz="1600" b="1"/>
            </a:lvl5pPr>
            <a:lvl6pPr marL="2743200" lvl="5" indent="-228600" algn="l" rtl="0">
              <a:spcBef>
                <a:spcPts val="500"/>
              </a:spcBef>
              <a:spcAft>
                <a:spcPts val="0"/>
              </a:spcAft>
              <a:buSzPts val="1600"/>
              <a:buNone/>
              <a:defRPr sz="1600" b="1"/>
            </a:lvl6pPr>
            <a:lvl7pPr marL="3200400" lvl="6" indent="-228600" algn="l" rtl="0">
              <a:spcBef>
                <a:spcPts val="500"/>
              </a:spcBef>
              <a:spcAft>
                <a:spcPts val="0"/>
              </a:spcAft>
              <a:buSzPts val="1600"/>
              <a:buNone/>
              <a:defRPr sz="1600" b="1"/>
            </a:lvl7pPr>
            <a:lvl8pPr marL="3657600" lvl="7" indent="-228600" algn="l" rtl="0">
              <a:spcBef>
                <a:spcPts val="500"/>
              </a:spcBef>
              <a:spcAft>
                <a:spcPts val="0"/>
              </a:spcAft>
              <a:buSzPts val="1600"/>
              <a:buNone/>
              <a:defRPr sz="1600" b="1"/>
            </a:lvl8pPr>
            <a:lvl9pPr marL="4114800" lvl="8" indent="-228600" algn="l" rtl="0">
              <a:spcBef>
                <a:spcPts val="500"/>
              </a:spcBef>
              <a:spcAft>
                <a:spcPts val="0"/>
              </a:spcAft>
              <a:buSzPts val="1600"/>
              <a:buNone/>
              <a:defRPr sz="1600" b="1"/>
            </a:lvl9pPr>
          </a:lstStyle>
          <a:p>
            <a:endParaRPr/>
          </a:p>
        </p:txBody>
      </p:sp>
      <p:sp>
        <p:nvSpPr>
          <p:cNvPr id="50" name="Google Shape;50;p8"/>
          <p:cNvSpPr txBox="1">
            <a:spLocks noGrp="1"/>
          </p:cNvSpPr>
          <p:nvPr>
            <p:ph type="body" idx="4"/>
          </p:nvPr>
        </p:nvSpPr>
        <p:spPr>
          <a:xfrm>
            <a:off x="4645025" y="2174875"/>
            <a:ext cx="4041900" cy="3951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2400"/>
            </a:lvl1pPr>
            <a:lvl2pPr marL="914400" lvl="1" indent="-228600" algn="l" rtl="0">
              <a:spcBef>
                <a:spcPts val="700"/>
              </a:spcBef>
              <a:spcAft>
                <a:spcPts val="0"/>
              </a:spcAft>
              <a:buSzPts val="1400"/>
              <a:buNone/>
              <a:defRPr sz="2000"/>
            </a:lvl2pPr>
            <a:lvl3pPr marL="1371600" lvl="2" indent="-228600" algn="l" rtl="0">
              <a:spcBef>
                <a:spcPts val="600"/>
              </a:spcBef>
              <a:spcAft>
                <a:spcPts val="0"/>
              </a:spcAft>
              <a:buSzPts val="1400"/>
              <a:buNone/>
              <a:defRPr sz="1800"/>
            </a:lvl3pPr>
            <a:lvl4pPr marL="1828800" lvl="3" indent="-228600" algn="l" rtl="0">
              <a:spcBef>
                <a:spcPts val="500"/>
              </a:spcBef>
              <a:spcAft>
                <a:spcPts val="0"/>
              </a:spcAft>
              <a:buSzPts val="1400"/>
              <a:buNone/>
              <a:defRPr sz="1600"/>
            </a:lvl4pPr>
            <a:lvl5pPr marL="2286000" lvl="4" indent="-228600" algn="l" rtl="0">
              <a:spcBef>
                <a:spcPts val="500"/>
              </a:spcBef>
              <a:spcAft>
                <a:spcPts val="0"/>
              </a:spcAft>
              <a:buSzPts val="1400"/>
              <a:buNone/>
              <a:defRPr sz="1600"/>
            </a:lvl5pPr>
            <a:lvl6pPr marL="2743200" lvl="5" indent="-228600" algn="l" rtl="0">
              <a:spcBef>
                <a:spcPts val="500"/>
              </a:spcBef>
              <a:spcAft>
                <a:spcPts val="0"/>
              </a:spcAft>
              <a:buSzPts val="1400"/>
              <a:buNone/>
              <a:defRPr sz="1600"/>
            </a:lvl6pPr>
            <a:lvl7pPr marL="3200400" lvl="6" indent="-228600" algn="l" rtl="0">
              <a:spcBef>
                <a:spcPts val="500"/>
              </a:spcBef>
              <a:spcAft>
                <a:spcPts val="0"/>
              </a:spcAft>
              <a:buSzPts val="1400"/>
              <a:buNone/>
              <a:defRPr sz="1600"/>
            </a:lvl7pPr>
            <a:lvl8pPr marL="3657600" lvl="7" indent="-228600" algn="l" rtl="0">
              <a:spcBef>
                <a:spcPts val="500"/>
              </a:spcBef>
              <a:spcAft>
                <a:spcPts val="0"/>
              </a:spcAft>
              <a:buSzPts val="1400"/>
              <a:buNone/>
              <a:defRPr sz="1600"/>
            </a:lvl8pPr>
            <a:lvl9pPr marL="4114800" lvl="8" indent="-228600" algn="l" rtl="0">
              <a:spcBef>
                <a:spcPts val="500"/>
              </a:spcBef>
              <a:spcAft>
                <a:spcPts val="0"/>
              </a:spcAft>
              <a:buSzPts val="1400"/>
              <a:buNone/>
              <a:defRPr sz="1600"/>
            </a:lvl9pPr>
          </a:lstStyle>
          <a:p>
            <a:endParaRPr/>
          </a:p>
        </p:txBody>
      </p:sp>
      <p:sp>
        <p:nvSpPr>
          <p:cNvPr id="51" name="Google Shape;51;p8"/>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 name="Google Shape;52;p8"/>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457200" y="128587"/>
            <a:ext cx="8228100" cy="14334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5" name="Google Shape;55;p9"/>
          <p:cNvSpPr txBox="1">
            <a:spLocks noGrp="1"/>
          </p:cNvSpPr>
          <p:nvPr>
            <p:ph type="body" idx="1"/>
          </p:nvPr>
        </p:nvSpPr>
        <p:spPr>
          <a:xfrm>
            <a:off x="457200" y="1600200"/>
            <a:ext cx="4037100" cy="4524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2800"/>
            </a:lvl1pPr>
            <a:lvl2pPr marL="914400" lvl="1" indent="-228600" algn="l" rtl="0">
              <a:spcBef>
                <a:spcPts val="700"/>
              </a:spcBef>
              <a:spcAft>
                <a:spcPts val="0"/>
              </a:spcAft>
              <a:buSzPts val="1400"/>
              <a:buNone/>
              <a:defRPr sz="2400"/>
            </a:lvl2pPr>
            <a:lvl3pPr marL="1371600" lvl="2" indent="-228600" algn="l" rtl="0">
              <a:spcBef>
                <a:spcPts val="600"/>
              </a:spcBef>
              <a:spcAft>
                <a:spcPts val="0"/>
              </a:spcAft>
              <a:buSzPts val="1400"/>
              <a:buNone/>
              <a:defRPr sz="2000"/>
            </a:lvl3pPr>
            <a:lvl4pPr marL="1828800" lvl="3" indent="-228600" algn="l" rtl="0">
              <a:spcBef>
                <a:spcPts val="500"/>
              </a:spcBef>
              <a:spcAft>
                <a:spcPts val="0"/>
              </a:spcAft>
              <a:buSzPts val="1400"/>
              <a:buNone/>
              <a:defRPr sz="1800"/>
            </a:lvl4pPr>
            <a:lvl5pPr marL="2286000" lvl="4" indent="-228600" algn="l" rtl="0">
              <a:spcBef>
                <a:spcPts val="500"/>
              </a:spcBef>
              <a:spcAft>
                <a:spcPts val="0"/>
              </a:spcAft>
              <a:buSzPts val="1400"/>
              <a:buNone/>
              <a:defRPr sz="1800"/>
            </a:lvl5pPr>
            <a:lvl6pPr marL="2743200" lvl="5" indent="-228600" algn="l" rtl="0">
              <a:spcBef>
                <a:spcPts val="500"/>
              </a:spcBef>
              <a:spcAft>
                <a:spcPts val="0"/>
              </a:spcAft>
              <a:buSzPts val="1400"/>
              <a:buNone/>
              <a:defRPr sz="1800"/>
            </a:lvl6pPr>
            <a:lvl7pPr marL="3200400" lvl="6" indent="-228600" algn="l" rtl="0">
              <a:spcBef>
                <a:spcPts val="500"/>
              </a:spcBef>
              <a:spcAft>
                <a:spcPts val="0"/>
              </a:spcAft>
              <a:buSzPts val="1400"/>
              <a:buNone/>
              <a:defRPr sz="1800"/>
            </a:lvl7pPr>
            <a:lvl8pPr marL="3657600" lvl="7" indent="-228600" algn="l" rtl="0">
              <a:spcBef>
                <a:spcPts val="500"/>
              </a:spcBef>
              <a:spcAft>
                <a:spcPts val="0"/>
              </a:spcAft>
              <a:buSzPts val="1400"/>
              <a:buNone/>
              <a:defRPr sz="1800"/>
            </a:lvl8pPr>
            <a:lvl9pPr marL="4114800" lvl="8" indent="-228600" algn="l" rtl="0">
              <a:spcBef>
                <a:spcPts val="500"/>
              </a:spcBef>
              <a:spcAft>
                <a:spcPts val="0"/>
              </a:spcAft>
              <a:buSzPts val="1400"/>
              <a:buNone/>
              <a:defRPr sz="1800"/>
            </a:lvl9pPr>
          </a:lstStyle>
          <a:p>
            <a:endParaRPr/>
          </a:p>
        </p:txBody>
      </p:sp>
      <p:sp>
        <p:nvSpPr>
          <p:cNvPr id="56" name="Google Shape;56;p9"/>
          <p:cNvSpPr txBox="1">
            <a:spLocks noGrp="1"/>
          </p:cNvSpPr>
          <p:nvPr>
            <p:ph type="body" idx="2"/>
          </p:nvPr>
        </p:nvSpPr>
        <p:spPr>
          <a:xfrm>
            <a:off x="4646613" y="1600200"/>
            <a:ext cx="4038600" cy="4524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sz="2800"/>
            </a:lvl1pPr>
            <a:lvl2pPr marL="914400" lvl="1" indent="-228600" algn="l" rtl="0">
              <a:spcBef>
                <a:spcPts val="700"/>
              </a:spcBef>
              <a:spcAft>
                <a:spcPts val="0"/>
              </a:spcAft>
              <a:buSzPts val="1400"/>
              <a:buNone/>
              <a:defRPr sz="2400"/>
            </a:lvl2pPr>
            <a:lvl3pPr marL="1371600" lvl="2" indent="-228600" algn="l" rtl="0">
              <a:spcBef>
                <a:spcPts val="600"/>
              </a:spcBef>
              <a:spcAft>
                <a:spcPts val="0"/>
              </a:spcAft>
              <a:buSzPts val="1400"/>
              <a:buNone/>
              <a:defRPr sz="2000"/>
            </a:lvl3pPr>
            <a:lvl4pPr marL="1828800" lvl="3" indent="-228600" algn="l" rtl="0">
              <a:spcBef>
                <a:spcPts val="500"/>
              </a:spcBef>
              <a:spcAft>
                <a:spcPts val="0"/>
              </a:spcAft>
              <a:buSzPts val="1400"/>
              <a:buNone/>
              <a:defRPr sz="1800"/>
            </a:lvl4pPr>
            <a:lvl5pPr marL="2286000" lvl="4" indent="-228600" algn="l" rtl="0">
              <a:spcBef>
                <a:spcPts val="500"/>
              </a:spcBef>
              <a:spcAft>
                <a:spcPts val="0"/>
              </a:spcAft>
              <a:buSzPts val="1400"/>
              <a:buNone/>
              <a:defRPr sz="1800"/>
            </a:lvl5pPr>
            <a:lvl6pPr marL="2743200" lvl="5" indent="-228600" algn="l" rtl="0">
              <a:spcBef>
                <a:spcPts val="500"/>
              </a:spcBef>
              <a:spcAft>
                <a:spcPts val="0"/>
              </a:spcAft>
              <a:buSzPts val="1400"/>
              <a:buNone/>
              <a:defRPr sz="1800"/>
            </a:lvl6pPr>
            <a:lvl7pPr marL="3200400" lvl="6" indent="-228600" algn="l" rtl="0">
              <a:spcBef>
                <a:spcPts val="500"/>
              </a:spcBef>
              <a:spcAft>
                <a:spcPts val="0"/>
              </a:spcAft>
              <a:buSzPts val="1400"/>
              <a:buNone/>
              <a:defRPr sz="1800"/>
            </a:lvl7pPr>
            <a:lvl8pPr marL="3657600" lvl="7" indent="-228600" algn="l" rtl="0">
              <a:spcBef>
                <a:spcPts val="500"/>
              </a:spcBef>
              <a:spcAft>
                <a:spcPts val="0"/>
              </a:spcAft>
              <a:buSzPts val="1400"/>
              <a:buNone/>
              <a:defRPr sz="1800"/>
            </a:lvl8pPr>
            <a:lvl9pPr marL="4114800" lvl="8" indent="-228600" algn="l" rtl="0">
              <a:spcBef>
                <a:spcPts val="500"/>
              </a:spcBef>
              <a:spcAft>
                <a:spcPts val="0"/>
              </a:spcAft>
              <a:buSzPts val="1400"/>
              <a:buNone/>
              <a:defRPr sz="1800"/>
            </a:lvl9pPr>
          </a:lstStyle>
          <a:p>
            <a:endParaRPr/>
          </a:p>
        </p:txBody>
      </p:sp>
      <p:sp>
        <p:nvSpPr>
          <p:cNvPr id="57" name="Google Shape;57;p9"/>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8" name="Google Shape;58;p9"/>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722313" y="4406900"/>
            <a:ext cx="7772400" cy="1362000"/>
          </a:xfrm>
          <a:prstGeom prst="rect">
            <a:avLst/>
          </a:prstGeom>
          <a:noFill/>
          <a:ln>
            <a:noFill/>
          </a:ln>
        </p:spPr>
        <p:txBody>
          <a:bodyPr spcFirstLastPara="1" wrap="square" lIns="90000" tIns="46800" rIns="90000" bIns="46800" anchor="t" anchorCtr="0">
            <a:noAutofit/>
          </a:bodyPr>
          <a:lstStyle>
            <a:lvl1pPr lvl="0" algn="l" rtl="0">
              <a:spcBef>
                <a:spcPts val="0"/>
              </a:spcBef>
              <a:spcAft>
                <a:spcPts val="0"/>
              </a:spcAft>
              <a:buSzPts val="1400"/>
              <a:buNone/>
              <a:defRPr sz="4000" b="1" cap="none"/>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722313" y="2906713"/>
            <a:ext cx="7772400" cy="1500300"/>
          </a:xfrm>
          <a:prstGeom prst="rect">
            <a:avLst/>
          </a:prstGeom>
          <a:noFill/>
          <a:ln>
            <a:noFill/>
          </a:ln>
        </p:spPr>
        <p:txBody>
          <a:bodyPr spcFirstLastPara="1" wrap="square" lIns="90000" tIns="46800" rIns="90000" bIns="46800" anchor="b" anchorCtr="0">
            <a:noAutofit/>
          </a:bodyPr>
          <a:lstStyle>
            <a:lvl1pPr marL="457200" lvl="0" indent="-228600" algn="l" rtl="0">
              <a:spcBef>
                <a:spcPts val="800"/>
              </a:spcBef>
              <a:spcAft>
                <a:spcPts val="0"/>
              </a:spcAft>
              <a:buSzPts val="2000"/>
              <a:buNone/>
              <a:defRPr sz="2000"/>
            </a:lvl1pPr>
            <a:lvl2pPr marL="914400" lvl="1" indent="-228600" algn="l" rtl="0">
              <a:spcBef>
                <a:spcPts val="700"/>
              </a:spcBef>
              <a:spcAft>
                <a:spcPts val="0"/>
              </a:spcAft>
              <a:buSzPts val="1800"/>
              <a:buNone/>
              <a:defRPr sz="1800"/>
            </a:lvl2pPr>
            <a:lvl3pPr marL="1371600" lvl="2" indent="-228600" algn="l" rtl="0">
              <a:spcBef>
                <a:spcPts val="600"/>
              </a:spcBef>
              <a:spcAft>
                <a:spcPts val="0"/>
              </a:spcAft>
              <a:buSzPts val="1600"/>
              <a:buNone/>
              <a:defRPr sz="1600"/>
            </a:lvl3pPr>
            <a:lvl4pPr marL="1828800" lvl="3" indent="-228600" algn="l" rtl="0">
              <a:spcBef>
                <a:spcPts val="500"/>
              </a:spcBef>
              <a:spcAft>
                <a:spcPts val="0"/>
              </a:spcAft>
              <a:buSzPts val="1400"/>
              <a:buNone/>
              <a:defRPr sz="1400"/>
            </a:lvl4pPr>
            <a:lvl5pPr marL="2286000" lvl="4" indent="-228600" algn="l" rtl="0">
              <a:spcBef>
                <a:spcPts val="500"/>
              </a:spcBef>
              <a:spcAft>
                <a:spcPts val="0"/>
              </a:spcAft>
              <a:buSzPts val="1400"/>
              <a:buNone/>
              <a:defRPr sz="1400"/>
            </a:lvl5pPr>
            <a:lvl6pPr marL="2743200" lvl="5" indent="-228600" algn="l" rtl="0">
              <a:spcBef>
                <a:spcPts val="500"/>
              </a:spcBef>
              <a:spcAft>
                <a:spcPts val="0"/>
              </a:spcAft>
              <a:buSzPts val="1400"/>
              <a:buNone/>
              <a:defRPr sz="1400"/>
            </a:lvl6pPr>
            <a:lvl7pPr marL="3200400" lvl="6" indent="-228600" algn="l" rtl="0">
              <a:spcBef>
                <a:spcPts val="500"/>
              </a:spcBef>
              <a:spcAft>
                <a:spcPts val="0"/>
              </a:spcAft>
              <a:buSzPts val="1400"/>
              <a:buNone/>
              <a:defRPr sz="1400"/>
            </a:lvl7pPr>
            <a:lvl8pPr marL="3657600" lvl="7" indent="-228600" algn="l" rtl="0">
              <a:spcBef>
                <a:spcPts val="500"/>
              </a:spcBef>
              <a:spcAft>
                <a:spcPts val="0"/>
              </a:spcAft>
              <a:buSzPts val="1400"/>
              <a:buNone/>
              <a:defRPr sz="1400"/>
            </a:lvl8pPr>
            <a:lvl9pPr marL="4114800" lvl="8" indent="-228600" algn="l" rtl="0">
              <a:spcBef>
                <a:spcPts val="500"/>
              </a:spcBef>
              <a:spcAft>
                <a:spcPts val="0"/>
              </a:spcAft>
              <a:buSzPts val="1400"/>
              <a:buNone/>
              <a:defRPr sz="1400"/>
            </a:lvl9pPr>
          </a:lstStyle>
          <a:p>
            <a:endParaRPr/>
          </a:p>
        </p:txBody>
      </p:sp>
      <p:sp>
        <p:nvSpPr>
          <p:cNvPr id="62" name="Google Shape;62;p10"/>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3" name="Google Shape;63;p10"/>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1"/>
          <p:cNvSpPr txBox="1">
            <a:spLocks noGrp="1"/>
          </p:cNvSpPr>
          <p:nvPr>
            <p:ph type="title"/>
          </p:nvPr>
        </p:nvSpPr>
        <p:spPr>
          <a:xfrm>
            <a:off x="457200" y="128587"/>
            <a:ext cx="8228100" cy="14334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6" name="Google Shape;66;p11"/>
          <p:cNvSpPr txBox="1">
            <a:spLocks noGrp="1"/>
          </p:cNvSpPr>
          <p:nvPr>
            <p:ph type="body" idx="1"/>
          </p:nvPr>
        </p:nvSpPr>
        <p:spPr>
          <a:xfrm>
            <a:off x="457200" y="1600200"/>
            <a:ext cx="8228100" cy="4524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400"/>
              <a:buNone/>
              <a:defRPr/>
            </a:lvl1pPr>
            <a:lvl2pPr marL="914400" lvl="1" indent="-228600" algn="l" rtl="0">
              <a:spcBef>
                <a:spcPts val="700"/>
              </a:spcBef>
              <a:spcAft>
                <a:spcPts val="0"/>
              </a:spcAft>
              <a:buSzPts val="1400"/>
              <a:buNone/>
              <a:defRPr/>
            </a:lvl2pPr>
            <a:lvl3pPr marL="1371600" lvl="2" indent="-228600" algn="l" rtl="0">
              <a:spcBef>
                <a:spcPts val="600"/>
              </a:spcBef>
              <a:spcAft>
                <a:spcPts val="0"/>
              </a:spcAft>
              <a:buSzPts val="1400"/>
              <a:buNone/>
              <a:defRPr/>
            </a:lvl3pPr>
            <a:lvl4pPr marL="1828800" lvl="3" indent="-228600" algn="l" rtl="0">
              <a:spcBef>
                <a:spcPts val="500"/>
              </a:spcBef>
              <a:spcAft>
                <a:spcPts val="0"/>
              </a:spcAft>
              <a:buSzPts val="1400"/>
              <a:buNone/>
              <a:defRPr/>
            </a:lvl4pPr>
            <a:lvl5pPr marL="2286000" lvl="4" indent="-228600" algn="l" rtl="0">
              <a:spcBef>
                <a:spcPts val="500"/>
              </a:spcBef>
              <a:spcAft>
                <a:spcPts val="0"/>
              </a:spcAft>
              <a:buSzPts val="1400"/>
              <a:buNone/>
              <a:defRPr/>
            </a:lvl5pPr>
            <a:lvl6pPr marL="2743200" lvl="5" indent="-228600" algn="l" rtl="0">
              <a:spcBef>
                <a:spcPts val="500"/>
              </a:spcBef>
              <a:spcAft>
                <a:spcPts val="0"/>
              </a:spcAft>
              <a:buSzPts val="1400"/>
              <a:buNone/>
              <a:defRPr/>
            </a:lvl6pPr>
            <a:lvl7pPr marL="3200400" lvl="6" indent="-228600" algn="l" rtl="0">
              <a:spcBef>
                <a:spcPts val="500"/>
              </a:spcBef>
              <a:spcAft>
                <a:spcPts val="0"/>
              </a:spcAft>
              <a:buSzPts val="1400"/>
              <a:buNone/>
              <a:defRPr/>
            </a:lvl7pPr>
            <a:lvl8pPr marL="3657600" lvl="7" indent="-228600" algn="l" rtl="0">
              <a:spcBef>
                <a:spcPts val="500"/>
              </a:spcBef>
              <a:spcAft>
                <a:spcPts val="0"/>
              </a:spcAft>
              <a:buSzPts val="1400"/>
              <a:buNone/>
              <a:defRPr/>
            </a:lvl8pPr>
            <a:lvl9pPr marL="4114800" lvl="8" indent="-228600" algn="l" rtl="0">
              <a:spcBef>
                <a:spcPts val="500"/>
              </a:spcBef>
              <a:spcAft>
                <a:spcPts val="0"/>
              </a:spcAft>
              <a:buSzPts val="1400"/>
              <a:buNone/>
              <a:defRPr/>
            </a:lvl9pPr>
          </a:lstStyle>
          <a:p>
            <a:endParaRPr/>
          </a:p>
        </p:txBody>
      </p:sp>
      <p:sp>
        <p:nvSpPr>
          <p:cNvPr id="67" name="Google Shape;67;p11"/>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8" name="Google Shape;68;p11"/>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9"/>
        <p:cNvGrpSpPr/>
        <p:nvPr/>
      </p:nvGrpSpPr>
      <p:grpSpPr>
        <a:xfrm>
          <a:off x="0" y="0"/>
          <a:ext cx="0" cy="0"/>
          <a:chOff x="0" y="0"/>
          <a:chExt cx="0" cy="0"/>
        </a:xfrm>
      </p:grpSpPr>
      <p:sp>
        <p:nvSpPr>
          <p:cNvPr id="70" name="Google Shape;70;p12"/>
          <p:cNvSpPr txBox="1">
            <a:spLocks noGrp="1"/>
          </p:cNvSpPr>
          <p:nvPr>
            <p:ph type="ctrTitle"/>
          </p:nvPr>
        </p:nvSpPr>
        <p:spPr>
          <a:xfrm>
            <a:off x="685800" y="2130425"/>
            <a:ext cx="7772400" cy="1470000"/>
          </a:xfrm>
          <a:prstGeom prst="rect">
            <a:avLst/>
          </a:prstGeom>
          <a:noFill/>
          <a:ln>
            <a:noFill/>
          </a:ln>
        </p:spPr>
        <p:txBody>
          <a:bodyPr spcFirstLastPara="1" wrap="square" lIns="90000" tIns="46800" rIns="90000" bIns="468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1" name="Google Shape;71;p12"/>
          <p:cNvSpPr txBox="1">
            <a:spLocks noGrp="1"/>
          </p:cNvSpPr>
          <p:nvPr>
            <p:ph type="subTitle" idx="1"/>
          </p:nvPr>
        </p:nvSpPr>
        <p:spPr>
          <a:xfrm>
            <a:off x="1371600" y="3886200"/>
            <a:ext cx="6400800" cy="1752600"/>
          </a:xfrm>
          <a:prstGeom prst="rect">
            <a:avLst/>
          </a:prstGeom>
          <a:noFill/>
          <a:ln>
            <a:noFill/>
          </a:ln>
        </p:spPr>
        <p:txBody>
          <a:bodyPr spcFirstLastPara="1" wrap="square" lIns="90000" tIns="46800" rIns="90000" bIns="46800" anchor="t" anchorCtr="0">
            <a:noAutofit/>
          </a:bodyPr>
          <a:lstStyle>
            <a:lvl1pPr lvl="0" algn="ctr" rtl="0">
              <a:spcBef>
                <a:spcPts val="800"/>
              </a:spcBef>
              <a:spcAft>
                <a:spcPts val="0"/>
              </a:spcAft>
              <a:buSzPts val="3200"/>
              <a:buNone/>
              <a:defRPr/>
            </a:lvl1pPr>
            <a:lvl2pPr lvl="1" algn="ctr" rtl="0">
              <a:spcBef>
                <a:spcPts val="700"/>
              </a:spcBef>
              <a:spcAft>
                <a:spcPts val="0"/>
              </a:spcAft>
              <a:buSzPts val="2800"/>
              <a:buNone/>
              <a:defRPr/>
            </a:lvl2pPr>
            <a:lvl3pPr lvl="2" algn="ctr" rtl="0">
              <a:spcBef>
                <a:spcPts val="600"/>
              </a:spcBef>
              <a:spcAft>
                <a:spcPts val="0"/>
              </a:spcAft>
              <a:buSzPts val="2400"/>
              <a:buNone/>
              <a:defRPr/>
            </a:lvl3pPr>
            <a:lvl4pPr lvl="3" algn="ctr" rtl="0">
              <a:spcBef>
                <a:spcPts val="500"/>
              </a:spcBef>
              <a:spcAft>
                <a:spcPts val="0"/>
              </a:spcAft>
              <a:buSzPts val="2000"/>
              <a:buNone/>
              <a:defRPr/>
            </a:lvl4pPr>
            <a:lvl5pPr lvl="4" algn="ctr" rtl="0">
              <a:spcBef>
                <a:spcPts val="500"/>
              </a:spcBef>
              <a:spcAft>
                <a:spcPts val="0"/>
              </a:spcAft>
              <a:buSzPts val="2000"/>
              <a:buNone/>
              <a:defRPr/>
            </a:lvl5pPr>
            <a:lvl6pPr lvl="5" algn="ctr" rtl="0">
              <a:spcBef>
                <a:spcPts val="500"/>
              </a:spcBef>
              <a:spcAft>
                <a:spcPts val="0"/>
              </a:spcAft>
              <a:buSzPts val="2000"/>
              <a:buNone/>
              <a:defRPr/>
            </a:lvl6pPr>
            <a:lvl7pPr lvl="6" algn="ctr" rtl="0">
              <a:spcBef>
                <a:spcPts val="500"/>
              </a:spcBef>
              <a:spcAft>
                <a:spcPts val="0"/>
              </a:spcAft>
              <a:buSzPts val="2000"/>
              <a:buNone/>
              <a:defRPr/>
            </a:lvl7pPr>
            <a:lvl8pPr lvl="7" algn="ctr" rtl="0">
              <a:spcBef>
                <a:spcPts val="500"/>
              </a:spcBef>
              <a:spcAft>
                <a:spcPts val="0"/>
              </a:spcAft>
              <a:buSzPts val="2000"/>
              <a:buNone/>
              <a:defRPr/>
            </a:lvl8pPr>
            <a:lvl9pPr lvl="8" algn="ctr" rtl="0">
              <a:spcBef>
                <a:spcPts val="500"/>
              </a:spcBef>
              <a:spcAft>
                <a:spcPts val="0"/>
              </a:spcAft>
              <a:buSzPts val="2000"/>
              <a:buNone/>
              <a:defRPr/>
            </a:lvl9pPr>
          </a:lstStyle>
          <a:p>
            <a:endParaRPr/>
          </a:p>
        </p:txBody>
      </p:sp>
      <p:sp>
        <p:nvSpPr>
          <p:cNvPr id="72" name="Google Shape;72;p12"/>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lvl="0" algn="l" rtl="0">
              <a:lnSpc>
                <a:spcPct val="100000"/>
              </a:lnSpc>
              <a:spcBef>
                <a:spcPts val="0"/>
              </a:spcBef>
              <a:spcAft>
                <a:spcPts val="0"/>
              </a:spcAft>
              <a:buSzPts val="1400"/>
              <a:buNone/>
              <a:defRPr>
                <a:solidFill>
                  <a:srgbClr val="00000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
        <p:cNvGrpSpPr/>
        <p:nvPr/>
      </p:nvGrpSpPr>
      <p:grpSpPr>
        <a:xfrm>
          <a:off x="0" y="0"/>
          <a:ext cx="0" cy="0"/>
          <a:chOff x="0" y="0"/>
          <a:chExt cx="0" cy="0"/>
        </a:xfrm>
      </p:grpSpPr>
      <p:sp>
        <p:nvSpPr>
          <p:cNvPr id="11" name="Google Shape;11;p1"/>
          <p:cNvSpPr txBox="1">
            <a:spLocks noGrp="1"/>
          </p:cNvSpPr>
          <p:nvPr>
            <p:ph type="title"/>
          </p:nvPr>
        </p:nvSpPr>
        <p:spPr>
          <a:xfrm>
            <a:off x="457200" y="128587"/>
            <a:ext cx="8228100" cy="1433400"/>
          </a:xfrm>
          <a:prstGeom prst="rect">
            <a:avLst/>
          </a:prstGeom>
          <a:noFill/>
          <a:ln>
            <a:noFill/>
          </a:ln>
        </p:spPr>
        <p:txBody>
          <a:bodyPr spcFirstLastPara="1" wrap="square" lIns="90000" tIns="46800" rIns="90000" bIns="46800" anchor="ctr" anchorCtr="0">
            <a:noAutofit/>
          </a:bodyPr>
          <a:lstStyle>
            <a:lvl1pPr marR="0" lvl="0"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rgbClr val="000000"/>
                </a:solidFill>
                <a:latin typeface="Calibri"/>
                <a:ea typeface="Calibri"/>
                <a:cs typeface="Calibri"/>
                <a:sym typeface="Calibri"/>
              </a:defRPr>
            </a:lvl9pPr>
          </a:lstStyle>
          <a:p>
            <a:endParaRPr/>
          </a:p>
        </p:txBody>
      </p:sp>
      <p:sp>
        <p:nvSpPr>
          <p:cNvPr id="12" name="Google Shape;12;p1"/>
          <p:cNvSpPr txBox="1">
            <a:spLocks noGrp="1"/>
          </p:cNvSpPr>
          <p:nvPr>
            <p:ph type="body" idx="1"/>
          </p:nvPr>
        </p:nvSpPr>
        <p:spPr>
          <a:xfrm>
            <a:off x="457200" y="1600200"/>
            <a:ext cx="8228100" cy="4524300"/>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800"/>
              </a:spcBef>
              <a:spcAft>
                <a:spcPts val="0"/>
              </a:spcAft>
              <a:buSzPts val="1400"/>
              <a:buNone/>
              <a:defRPr sz="3200" b="0" i="0" u="none" strike="noStrike" cap="none">
                <a:solidFill>
                  <a:srgbClr val="000000"/>
                </a:solidFill>
                <a:latin typeface="Calibri"/>
                <a:ea typeface="Calibri"/>
                <a:cs typeface="Calibri"/>
                <a:sym typeface="Calibri"/>
              </a:defRPr>
            </a:lvl1pPr>
            <a:lvl2pPr marL="914400" marR="0" lvl="1" indent="-228600" algn="l" rtl="0">
              <a:spcBef>
                <a:spcPts val="700"/>
              </a:spcBef>
              <a:spcAft>
                <a:spcPts val="0"/>
              </a:spcAft>
              <a:buSzPts val="1400"/>
              <a:buNone/>
              <a:defRPr sz="2800" b="0" i="0" u="none" strike="noStrike" cap="none">
                <a:solidFill>
                  <a:srgbClr val="000000"/>
                </a:solidFill>
                <a:latin typeface="Calibri"/>
                <a:ea typeface="Calibri"/>
                <a:cs typeface="Calibri"/>
                <a:sym typeface="Calibri"/>
              </a:defRPr>
            </a:lvl2pPr>
            <a:lvl3pPr marL="1371600" marR="0" lvl="2" indent="-228600" algn="l" rtl="0">
              <a:spcBef>
                <a:spcPts val="600"/>
              </a:spcBef>
              <a:spcAft>
                <a:spcPts val="0"/>
              </a:spcAft>
              <a:buSzPts val="1400"/>
              <a:buNone/>
              <a:defRPr sz="2400" b="0" i="0" u="none" strike="noStrike" cap="none">
                <a:solidFill>
                  <a:srgbClr val="000000"/>
                </a:solidFill>
                <a:latin typeface="Calibri"/>
                <a:ea typeface="Calibri"/>
                <a:cs typeface="Calibri"/>
                <a:sym typeface="Calibri"/>
              </a:defRPr>
            </a:lvl3pPr>
            <a:lvl4pPr marL="1828800" marR="0" lvl="3"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4pPr>
            <a:lvl5pPr marL="2286000" marR="0" lvl="4"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5pPr>
            <a:lvl6pPr marL="2743200" marR="0" lvl="5"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6pPr>
            <a:lvl7pPr marL="3200400" marR="0" lvl="6"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7pPr>
            <a:lvl8pPr marL="3657600" marR="0" lvl="7"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8pPr>
            <a:lvl9pPr marL="4114800" marR="0" lvl="8" indent="-228600" algn="l" rtl="0">
              <a:spcBef>
                <a:spcPts val="500"/>
              </a:spcBef>
              <a:spcAft>
                <a:spcPts val="0"/>
              </a:spcAft>
              <a:buSzPts val="1400"/>
              <a:buNone/>
              <a:defRPr sz="2000" b="0" i="0" u="none" strike="noStrike" cap="none">
                <a:solidFill>
                  <a:srgbClr val="000000"/>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457200" y="6354762"/>
            <a:ext cx="2132100" cy="366600"/>
          </a:xfrm>
          <a:prstGeom prst="rect">
            <a:avLst/>
          </a:prstGeom>
          <a:noFill/>
          <a:ln>
            <a:noFill/>
          </a:ln>
        </p:spPr>
        <p:txBody>
          <a:bodyPr spcFirstLastPara="1" wrap="square" lIns="90000" tIns="46800" rIns="90000" bIns="46800" anchor="ctr"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1"/>
          <p:cNvSpPr txBox="1"/>
          <p:nvPr/>
        </p:nvSpPr>
        <p:spPr>
          <a:xfrm>
            <a:off x="3124200" y="6354762"/>
            <a:ext cx="2895600" cy="368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 name="Google Shape;15;p1"/>
          <p:cNvSpPr txBox="1">
            <a:spLocks noGrp="1"/>
          </p:cNvSpPr>
          <p:nvPr>
            <p:ph type="sldNum" idx="12"/>
          </p:nvPr>
        </p:nvSpPr>
        <p:spPr>
          <a:xfrm>
            <a:off x="6553200" y="6354762"/>
            <a:ext cx="2132100" cy="366600"/>
          </a:xfrm>
          <a:prstGeom prst="rect">
            <a:avLst/>
          </a:prstGeom>
          <a:noFill/>
          <a:ln>
            <a:noFill/>
          </a:ln>
        </p:spPr>
        <p:txBody>
          <a:bodyPr spcFirstLastPara="1" wrap="square" lIns="90000" tIns="46800" rIns="90000" bIns="46800" anchor="ctr"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3"/>
          <p:cNvSpPr txBox="1"/>
          <p:nvPr/>
        </p:nvSpPr>
        <p:spPr>
          <a:xfrm>
            <a:off x="679102" y="1709693"/>
            <a:ext cx="7772400" cy="1470000"/>
          </a:xfrm>
          <a:prstGeom prst="rect">
            <a:avLst/>
          </a:prstGeom>
          <a:noFill/>
          <a:ln>
            <a:noFill/>
          </a:ln>
        </p:spPr>
        <p:txBody>
          <a:bodyPr spcFirstLastPara="1" wrap="square" lIns="91425" tIns="45700" rIns="91425" bIns="45700" anchor="ctr" anchorCtr="0">
            <a:noAutofit/>
          </a:bodyPr>
          <a:lstStyle/>
          <a:p>
            <a:pPr algn="ctr"/>
            <a:r>
              <a:rPr lang="en-US" sz="2600" b="1">
                <a:latin typeface="Times New Roman"/>
                <a:ea typeface="Lustria"/>
                <a:cs typeface="Times New Roman"/>
                <a:sym typeface="Lustria"/>
              </a:rPr>
              <a:t>Application </a:t>
            </a:r>
            <a:r>
              <a:rPr lang="en-US" sz="2600" b="1" i="0" u="none">
                <a:solidFill>
                  <a:srgbClr val="000000"/>
                </a:solidFill>
                <a:latin typeface="Times New Roman"/>
                <a:ea typeface="Lustria"/>
                <a:cs typeface="Times New Roman"/>
                <a:sym typeface="Lustria"/>
              </a:rPr>
              <a:t>of </a:t>
            </a:r>
            <a:r>
              <a:rPr lang="en-US" sz="2600" b="1">
                <a:latin typeface="Times New Roman"/>
                <a:ea typeface="Lustria"/>
                <a:cs typeface="Times New Roman"/>
                <a:sym typeface="Lustria"/>
              </a:rPr>
              <a:t>a Lightweight Protocol to Visualize </a:t>
            </a:r>
            <a:r>
              <a:rPr lang="en-US" sz="2600" b="1" i="0" u="none">
                <a:solidFill>
                  <a:srgbClr val="000000"/>
                </a:solidFill>
                <a:latin typeface="Times New Roman"/>
                <a:ea typeface="Lustria"/>
                <a:cs typeface="Times New Roman"/>
                <a:sym typeface="Lustria"/>
              </a:rPr>
              <a:t>the </a:t>
            </a:r>
            <a:r>
              <a:rPr lang="en-US" sz="2600" b="1">
                <a:latin typeface="Times New Roman"/>
                <a:ea typeface="Lustria"/>
                <a:cs typeface="Times New Roman"/>
                <a:sym typeface="Lustria"/>
              </a:rPr>
              <a:t>Behavior of Autonomous Vehicle in a Virtual Environment</a:t>
            </a:r>
            <a:endParaRPr lang="en-US">
              <a:sym typeface="Lustria"/>
            </a:endParaRPr>
          </a:p>
        </p:txBody>
      </p:sp>
      <p:sp>
        <p:nvSpPr>
          <p:cNvPr id="80" name="Google Shape;80;p13"/>
          <p:cNvSpPr txBox="1"/>
          <p:nvPr/>
        </p:nvSpPr>
        <p:spPr>
          <a:xfrm>
            <a:off x="769916" y="3429522"/>
            <a:ext cx="7966553" cy="517529"/>
          </a:xfrm>
          <a:prstGeom prst="rect">
            <a:avLst/>
          </a:prstGeom>
          <a:noFill/>
          <a:ln>
            <a:noFill/>
          </a:ln>
        </p:spPr>
        <p:txBody>
          <a:bodyPr spcFirstLastPara="1" wrap="square" lIns="91425" tIns="45700" rIns="91425" bIns="45700" anchor="t" anchorCtr="0">
            <a:noAutofit/>
          </a:bodyPr>
          <a:lstStyle/>
          <a:p>
            <a:r>
              <a:rPr lang="en-US" sz="2200">
                <a:latin typeface="Times New Roman"/>
                <a:cs typeface="Times New Roman"/>
              </a:rPr>
              <a:t>Dr.Vaidehi M           </a:t>
            </a:r>
            <a:r>
              <a:rPr lang="en-US" sz="2400">
                <a:latin typeface="Times New Roman"/>
                <a:cs typeface="Times New Roman"/>
              </a:rPr>
              <a:t>Vaibhav Magadum          Sharadhi Hegde</a:t>
            </a:r>
            <a:endParaRPr lang="en-US"/>
          </a:p>
          <a:p>
            <a:r>
              <a:rPr lang="en-US" sz="2200">
                <a:solidFill>
                  <a:srgbClr val="7F7F7F"/>
                </a:solidFill>
                <a:latin typeface="Times New Roman"/>
                <a:cs typeface="Times New Roman"/>
              </a:rPr>
              <a:t>     Professor               Student                Student</a:t>
            </a:r>
            <a:endParaRPr lang="en-US"/>
          </a:p>
          <a:p>
            <a:pPr marL="0" marR="0" lvl="0" indent="0" algn="ctr">
              <a:lnSpc>
                <a:spcPct val="90000"/>
              </a:lnSpc>
              <a:spcBef>
                <a:spcPts val="0"/>
              </a:spcBef>
              <a:spcAft>
                <a:spcPts val="0"/>
              </a:spcAft>
              <a:buSzPts val="3200"/>
              <a:buFont typeface="Lustria"/>
              <a:buNone/>
            </a:pPr>
            <a:endParaRPr lang="en-US" sz="3200">
              <a:solidFill>
                <a:srgbClr val="898989"/>
              </a:solidFill>
              <a:latin typeface="Lustria"/>
            </a:endParaRPr>
          </a:p>
        </p:txBody>
      </p:sp>
      <p:sp>
        <p:nvSpPr>
          <p:cNvPr id="82" name="Google Shape;82;p13"/>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marL="0" marR="0" lvl="0" indent="0" algn="l" rtl="0">
              <a:lnSpc>
                <a:spcPct val="80000"/>
              </a:lnSpc>
              <a:spcBef>
                <a:spcPts val="0"/>
              </a:spcBef>
              <a:spcAft>
                <a:spcPts val="0"/>
              </a:spcAft>
              <a:buClr>
                <a:srgbClr val="898989"/>
              </a:buClr>
              <a:buSzPts val="1500"/>
              <a:buFont typeface="Calibri"/>
              <a:buNone/>
            </a:pPr>
            <a:r>
              <a:rPr lang="en-US" sz="1500" b="0" i="0" u="none" dirty="0" smtClean="0">
                <a:solidFill>
                  <a:srgbClr val="898989"/>
                </a:solidFill>
                <a:latin typeface="Calibri"/>
                <a:ea typeface="Calibri"/>
                <a:cs typeface="Calibri"/>
                <a:sym typeface="Calibri"/>
              </a:rPr>
              <a:t>NCCT Conference</a:t>
            </a:r>
            <a:endParaRPr dirty="0"/>
          </a:p>
        </p:txBody>
      </p:sp>
      <p:pic>
        <p:nvPicPr>
          <p:cNvPr id="83" name="Google Shape;83;p13"/>
          <p:cNvPicPr preferRelativeResize="0"/>
          <p:nvPr/>
        </p:nvPicPr>
        <p:blipFill rotWithShape="1">
          <a:blip r:embed="rId3">
            <a:alphaModFix/>
          </a:blip>
          <a:srcRect/>
          <a:stretch/>
        </p:blipFill>
        <p:spPr>
          <a:xfrm>
            <a:off x="250825" y="288925"/>
            <a:ext cx="2160587" cy="769937"/>
          </a:xfrm>
          <a:prstGeom prst="rect">
            <a:avLst/>
          </a:prstGeom>
          <a:noFill/>
          <a:ln>
            <a:noFill/>
          </a:ln>
        </p:spPr>
      </p:pic>
      <p:pic>
        <p:nvPicPr>
          <p:cNvPr id="4" name="Picture 3" descr="A yellow and blue logo&#10;&#10;AI-generated content may be incorrect.">
            <a:extLst>
              <a:ext uri="{FF2B5EF4-FFF2-40B4-BE49-F238E27FC236}">
                <a16:creationId xmlns:a16="http://schemas.microsoft.com/office/drawing/2014/main" xmlns="" id="{730343DE-FC56-19DD-68F6-1C65F334829B}"/>
              </a:ext>
            </a:extLst>
          </p:cNvPr>
          <p:cNvPicPr>
            <a:picLocks noChangeAspect="1"/>
          </p:cNvPicPr>
          <p:nvPr/>
        </p:nvPicPr>
        <p:blipFill>
          <a:blip r:embed="rId4"/>
          <a:stretch>
            <a:fillRect/>
          </a:stretch>
        </p:blipFill>
        <p:spPr>
          <a:xfrm>
            <a:off x="7445810" y="111625"/>
            <a:ext cx="1433970" cy="1123298"/>
          </a:xfrm>
          <a:prstGeom prst="rect">
            <a:avLst/>
          </a:prstGeom>
        </p:spPr>
      </p:pic>
      <p:sp>
        <p:nvSpPr>
          <p:cNvPr id="7" name="TextBox 6">
            <a:extLst>
              <a:ext uri="{FF2B5EF4-FFF2-40B4-BE49-F238E27FC236}">
                <a16:creationId xmlns:a16="http://schemas.microsoft.com/office/drawing/2014/main" xmlns="" id="{62A3988E-698B-FF23-EDE1-1579604FA0AC}"/>
              </a:ext>
            </a:extLst>
          </p:cNvPr>
          <p:cNvSpPr txBox="1"/>
          <p:nvPr/>
        </p:nvSpPr>
        <p:spPr>
          <a:xfrm>
            <a:off x="2296439" y="4201438"/>
            <a:ext cx="458243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0" i="0">
                <a:solidFill>
                  <a:srgbClr val="000000"/>
                </a:solidFill>
                <a:latin typeface="Times New Roman"/>
                <a:ea typeface="Arial"/>
                <a:cs typeface="Times New Roman"/>
              </a:rPr>
              <a:t>Shravya R</a:t>
            </a:r>
            <a:r>
              <a:rPr lang="en-US" sz="2200">
                <a:latin typeface="Times New Roman"/>
                <a:cs typeface="Times New Roman"/>
              </a:rPr>
              <a:t>                         </a:t>
            </a:r>
            <a:r>
              <a:rPr lang="en-US" sz="2200" b="0" i="0">
                <a:solidFill>
                  <a:srgbClr val="000000"/>
                </a:solidFill>
                <a:latin typeface="Times New Roman"/>
                <a:ea typeface="Arial"/>
                <a:cs typeface="Times New Roman"/>
              </a:rPr>
              <a:t>Sahaj Gupta</a:t>
            </a:r>
          </a:p>
        </p:txBody>
      </p:sp>
      <p:sp>
        <p:nvSpPr>
          <p:cNvPr id="8" name="TextBox 7">
            <a:extLst>
              <a:ext uri="{FF2B5EF4-FFF2-40B4-BE49-F238E27FC236}">
                <a16:creationId xmlns:a16="http://schemas.microsoft.com/office/drawing/2014/main" xmlns="" id="{95EA5523-1D86-B743-60CE-71537FEFF48A}"/>
              </a:ext>
            </a:extLst>
          </p:cNvPr>
          <p:cNvSpPr txBox="1"/>
          <p:nvPr/>
        </p:nvSpPr>
        <p:spPr>
          <a:xfrm>
            <a:off x="2411260" y="4535465"/>
            <a:ext cx="4843397"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200">
                <a:solidFill>
                  <a:srgbClr val="7F7F7F"/>
                </a:solidFill>
                <a:latin typeface="Times New Roman"/>
                <a:cs typeface="Times New Roman"/>
              </a:rPr>
              <a:t>Student                          Student</a:t>
            </a:r>
            <a:endParaRPr lang="en-US">
              <a:solidFill>
                <a:srgbClr val="7F7F7F"/>
              </a:solidFill>
            </a:endParaRPr>
          </a:p>
        </p:txBody>
      </p:sp>
      <p:sp>
        <p:nvSpPr>
          <p:cNvPr id="9" name="TextBox 8">
            <a:extLst>
              <a:ext uri="{FF2B5EF4-FFF2-40B4-BE49-F238E27FC236}">
                <a16:creationId xmlns:a16="http://schemas.microsoft.com/office/drawing/2014/main" xmlns="" id="{154EFF47-9B56-3798-DC92-1A1B773A5289}"/>
              </a:ext>
            </a:extLst>
          </p:cNvPr>
          <p:cNvSpPr txBox="1"/>
          <p:nvPr/>
        </p:nvSpPr>
        <p:spPr>
          <a:xfrm>
            <a:off x="824630" y="5140891"/>
            <a:ext cx="7536492"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IN" sz="1800" b="0" i="0">
                <a:solidFill>
                  <a:srgbClr val="000000"/>
                </a:solidFill>
                <a:latin typeface="Times New Roman"/>
                <a:ea typeface="Arial"/>
                <a:cs typeface="Times New Roman"/>
              </a:rPr>
              <a:t>Department of Information Science and Engineering </a:t>
            </a:r>
          </a:p>
          <a:p>
            <a:pPr algn="ctr" rtl="0"/>
            <a:r>
              <a:rPr lang="en-IN" sz="1800" b="0" i="0">
                <a:solidFill>
                  <a:srgbClr val="000000"/>
                </a:solidFill>
                <a:latin typeface="Times New Roman"/>
                <a:ea typeface="Arial"/>
                <a:cs typeface="Times New Roman"/>
              </a:rPr>
              <a:t>Dayananda Sagar College of Engineering</a:t>
            </a:r>
          </a:p>
          <a:p>
            <a:pPr algn="ctr" rtl="0"/>
            <a:r>
              <a:rPr lang="en-IN" sz="1800" b="0" i="0">
                <a:solidFill>
                  <a:srgbClr val="000000"/>
                </a:solidFill>
                <a:latin typeface="Times New Roman"/>
                <a:ea typeface="Arial"/>
                <a:cs typeface="Times New Roman"/>
              </a:rPr>
              <a:t> Shavige Malleshwara Hills, Kumaraswamy Layout, Bengaluru</a:t>
            </a:r>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p:nvPr/>
        </p:nvSpPr>
        <p:spPr>
          <a:xfrm>
            <a:off x="457200" y="290119"/>
            <a:ext cx="8229600" cy="777926"/>
          </a:xfrm>
          <a:prstGeom prst="rect">
            <a:avLst/>
          </a:prstGeom>
          <a:noFill/>
          <a:ln>
            <a:noFill/>
          </a:ln>
        </p:spPr>
        <p:txBody>
          <a:bodyPr spcFirstLastPara="1" wrap="square" lIns="91425" tIns="45700" rIns="91425" bIns="45700" anchor="ctr" anchorCtr="0">
            <a:noAutofit/>
          </a:bodyPr>
          <a:lstStyle/>
          <a:p>
            <a:pPr lvl="0" algn="ctr">
              <a:buSzPts val="4400"/>
            </a:pPr>
            <a:r>
              <a:rPr lang="en-US" sz="4400">
                <a:latin typeface="Times New Roman" panose="02020603050405020304" pitchFamily="18" charset="0"/>
                <a:cs typeface="Times New Roman" panose="02020603050405020304" pitchFamily="18" charset="0"/>
              </a:rPr>
              <a:t>Abstract</a:t>
            </a:r>
            <a:endParaRPr>
              <a:latin typeface="Times New Roman" panose="02020603050405020304" pitchFamily="18" charset="0"/>
              <a:cs typeface="Times New Roman" panose="02020603050405020304" pitchFamily="18" charset="0"/>
            </a:endParaRPr>
          </a:p>
        </p:txBody>
      </p:sp>
      <p:sp>
        <p:nvSpPr>
          <p:cNvPr id="99" name="Google Shape;99;p15"/>
          <p:cNvSpPr txBox="1"/>
          <p:nvPr/>
        </p:nvSpPr>
        <p:spPr>
          <a:xfrm>
            <a:off x="457200" y="1312666"/>
            <a:ext cx="8229600" cy="4680000"/>
          </a:xfrm>
          <a:prstGeom prst="rect">
            <a:avLst/>
          </a:prstGeom>
          <a:noFill/>
          <a:ln>
            <a:noFill/>
          </a:ln>
        </p:spPr>
        <p:txBody>
          <a:bodyPr spcFirstLastPara="1" wrap="square" lIns="91425" tIns="45700" rIns="91425" bIns="45700" anchor="t" anchorCtr="0">
            <a:noAutofit/>
          </a:bodyPr>
          <a:lstStyle/>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Presents a virtual IoT-based environment for studying autonomous vehicle communication.</a:t>
            </a:r>
          </a:p>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Implements a lightweight MQTT protocol for real-time data exchange between vehicles and server.</a:t>
            </a:r>
          </a:p>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Each vehicle (via Termux mobile simulation) transmits GPS, speed, and battery data to a FastAPI backend.</a:t>
            </a:r>
          </a:p>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WebSocket integration enables continuous live updates and visualization on interactive dashboards.</a:t>
            </a:r>
          </a:p>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Eliminates need for physical testbeds — providing a safe, scalable, and cost-effective simulation platform.</a:t>
            </a:r>
          </a:p>
          <a:p>
            <a:pPr marL="285750" lvl="0" indent="-285750" algn="just">
              <a:buSzPts val="25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Results show low-latency communication, effective vehicle coordination, and potential for fleet management and data-driven decision support.</a:t>
            </a:r>
            <a:endParaRPr sz="2000">
              <a:latin typeface="Times New Roman" panose="02020603050405020304" pitchFamily="18" charset="0"/>
              <a:cs typeface="Times New Roman" panose="02020603050405020304" pitchFamily="18" charset="0"/>
            </a:endParaRPr>
          </a:p>
        </p:txBody>
      </p:sp>
      <p:sp>
        <p:nvSpPr>
          <p:cNvPr id="100" name="Google Shape;100;p15"/>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01" name="Google Shape;101;p15"/>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p:nvPr/>
        </p:nvSpPr>
        <p:spPr>
          <a:xfrm>
            <a:off x="457200" y="274637"/>
            <a:ext cx="8229600" cy="87543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Introduction </a:t>
            </a:r>
            <a:endParaRPr>
              <a:latin typeface="Times New Roman" panose="02020603050405020304" pitchFamily="18" charset="0"/>
              <a:cs typeface="Times New Roman" panose="02020603050405020304" pitchFamily="18" charset="0"/>
            </a:endParaRPr>
          </a:p>
        </p:txBody>
      </p:sp>
      <p:sp>
        <p:nvSpPr>
          <p:cNvPr id="107" name="Google Shape;107;p16"/>
          <p:cNvSpPr txBox="1"/>
          <p:nvPr/>
        </p:nvSpPr>
        <p:spPr>
          <a:xfrm>
            <a:off x="457200" y="1150070"/>
            <a:ext cx="8229600" cy="4526100"/>
          </a:xfrm>
          <a:prstGeom prst="rect">
            <a:avLst/>
          </a:prstGeom>
          <a:noFill/>
          <a:ln>
            <a:noFill/>
          </a:ln>
        </p:spPr>
        <p:txBody>
          <a:bodyPr spcFirstLastPara="1" wrap="square" lIns="91425" tIns="45700" rIns="91425" bIns="45700" anchor="t" anchorCtr="0">
            <a:noAutofit/>
          </a:bodyPr>
          <a:lstStyle/>
          <a:p>
            <a:pPr marL="285750" indent="-285750" algn="just">
              <a:buFont typeface="Arial" panose="020B0604020202020204" pitchFamily="34" charset="0"/>
              <a:buChar char="•"/>
            </a:pPr>
            <a:r>
              <a:rPr lang="en-US" sz="2000" dirty="0">
                <a:latin typeface="Times New Roman"/>
                <a:cs typeface="Times New Roman"/>
              </a:rPr>
              <a:t>The autonomous vehicle industry is rapidly growing worldwide.</a:t>
            </a:r>
          </a:p>
          <a:p>
            <a:pPr marL="285750" indent="-285750" algn="just">
              <a:buFont typeface="Arial" panose="020B0604020202020204" pitchFamily="34" charset="0"/>
              <a:buChar char="•"/>
            </a:pPr>
            <a:r>
              <a:rPr lang="en-US" sz="2000" dirty="0">
                <a:latin typeface="Times New Roman"/>
                <a:cs typeface="Times New Roman"/>
              </a:rPr>
              <a:t>To enhance performance, vehicles must support Vehicle-to-Vehicle (V2V) and Vehicle-to-Environment (V2E) communication.</a:t>
            </a:r>
          </a:p>
          <a:p>
            <a:pPr marL="285750" indent="-285750" algn="just">
              <a:buFont typeface="Arial" panose="020B0604020202020204" pitchFamily="34" charset="0"/>
              <a:buChar char="•"/>
            </a:pPr>
            <a:r>
              <a:rPr lang="en-US" sz="2000" dirty="0">
                <a:latin typeface="Times New Roman"/>
                <a:cs typeface="Times New Roman"/>
              </a:rPr>
              <a:t>Despite major advancements, there is still a lack of real-time connectivity between vehicles and central monitoring systems.</a:t>
            </a:r>
          </a:p>
          <a:p>
            <a:pPr marL="285750" indent="-285750" algn="just">
              <a:buFont typeface="Arial" panose="020B0604020202020204" pitchFamily="34" charset="0"/>
              <a:buChar char="•"/>
            </a:pPr>
            <a:r>
              <a:rPr lang="en-US" sz="2000" dirty="0">
                <a:latin typeface="Times New Roman"/>
                <a:cs typeface="Times New Roman"/>
              </a:rPr>
              <a:t>This work proposes a virtual environment dominated by autonomous vehicles connected through a V2V network.</a:t>
            </a:r>
          </a:p>
          <a:p>
            <a:pPr marL="285750" indent="-285750" algn="just">
              <a:buFont typeface="Arial" panose="020B0604020202020204" pitchFamily="34" charset="0"/>
              <a:buChar char="•"/>
            </a:pPr>
            <a:r>
              <a:rPr lang="en-US" sz="2000" dirty="0">
                <a:latin typeface="Times New Roman"/>
                <a:cs typeface="Times New Roman"/>
              </a:rPr>
              <a:t>Each vehicle shares GPS, speed, and battery data with a centralized server.</a:t>
            </a:r>
          </a:p>
          <a:p>
            <a:pPr marL="285750" indent="-285750" algn="just">
              <a:buFont typeface="Arial" panose="020B0604020202020204" pitchFamily="34" charset="0"/>
              <a:buChar char="•"/>
            </a:pPr>
            <a:r>
              <a:rPr lang="en-US" sz="2000" dirty="0">
                <a:latin typeface="Times New Roman"/>
                <a:cs typeface="Times New Roman"/>
              </a:rPr>
              <a:t>The system uses the MQTT protocol for efficient, real-time data transmission.</a:t>
            </a:r>
          </a:p>
          <a:p>
            <a:pPr marL="285750" indent="-285750" algn="just">
              <a:buFont typeface="Arial" panose="020B0604020202020204" pitchFamily="34" charset="0"/>
              <a:buChar char="•"/>
            </a:pPr>
            <a:r>
              <a:rPr lang="en-US" sz="2000" dirty="0">
                <a:latin typeface="Times New Roman"/>
                <a:cs typeface="Times New Roman"/>
              </a:rPr>
              <a:t>The central server functions as a fleet management hub, enabling </a:t>
            </a:r>
            <a:r>
              <a:rPr lang="en-US" sz="2000">
                <a:latin typeface="Times New Roman"/>
                <a:cs typeface="Times New Roman"/>
              </a:rPr>
              <a:t>organizations to: Track vehicles in real-time, Monitor performance and </a:t>
            </a:r>
            <a:r>
              <a:rPr lang="en-US" sz="2000" dirty="0">
                <a:latin typeface="Times New Roman"/>
                <a:cs typeface="Times New Roman"/>
              </a:rPr>
              <a:t>safety, Make data-driven decisions for efficiency improvement.</a:t>
            </a:r>
          </a:p>
        </p:txBody>
      </p:sp>
      <p:sp>
        <p:nvSpPr>
          <p:cNvPr id="108" name="Google Shape;108;p16"/>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09" name="Google Shape;109;p16"/>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p:nvPr/>
        </p:nvSpPr>
        <p:spPr>
          <a:xfrm>
            <a:off x="457200" y="324974"/>
            <a:ext cx="8229600" cy="738183"/>
          </a:xfrm>
          <a:prstGeom prst="rect">
            <a:avLst/>
          </a:prstGeom>
          <a:noFill/>
          <a:ln>
            <a:noFill/>
          </a:ln>
        </p:spPr>
        <p:txBody>
          <a:bodyPr spcFirstLastPara="1" wrap="square" lIns="91425" tIns="45700" rIns="91425" bIns="45700" anchor="ctr" anchorCtr="0">
            <a:noAutofit/>
          </a:bodyPr>
          <a:lstStyle/>
          <a:p>
            <a:pPr lvl="0" algn="ctr">
              <a:buSzPts val="4400"/>
            </a:pPr>
            <a:r>
              <a:rPr lang="en-IN" sz="4400">
                <a:latin typeface="Times New Roman" panose="02020603050405020304" pitchFamily="18" charset="0"/>
                <a:cs typeface="Times New Roman" panose="02020603050405020304" pitchFamily="18" charset="0"/>
              </a:rPr>
              <a:t> Background</a:t>
            </a:r>
            <a:endParaRPr sz="4400">
              <a:latin typeface="Times New Roman" panose="02020603050405020304" pitchFamily="18" charset="0"/>
              <a:cs typeface="Times New Roman" panose="02020603050405020304" pitchFamily="18" charset="0"/>
            </a:endParaRPr>
          </a:p>
        </p:txBody>
      </p:sp>
      <p:sp>
        <p:nvSpPr>
          <p:cNvPr id="116" name="Google Shape;116;p17"/>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17" name="Google Shape;117;p17"/>
          <p:cNvPicPr preferRelativeResize="0"/>
          <p:nvPr/>
        </p:nvPicPr>
        <p:blipFill rotWithShape="1">
          <a:blip r:embed="rId3">
            <a:alphaModFix/>
          </a:blip>
          <a:srcRect/>
          <a:stretch/>
        </p:blipFill>
        <p:spPr>
          <a:xfrm>
            <a:off x="7162800" y="6237287"/>
            <a:ext cx="2017712" cy="719137"/>
          </a:xfrm>
          <a:prstGeom prst="rect">
            <a:avLst/>
          </a:prstGeom>
          <a:noFill/>
          <a:ln>
            <a:noFill/>
          </a:ln>
        </p:spPr>
      </p:pic>
      <p:sp>
        <p:nvSpPr>
          <p:cNvPr id="2" name="Rectangle 1"/>
          <p:cNvSpPr/>
          <p:nvPr/>
        </p:nvSpPr>
        <p:spPr>
          <a:xfrm>
            <a:off x="457200" y="1146704"/>
            <a:ext cx="8229600" cy="4401205"/>
          </a:xfrm>
          <a:prstGeom prst="rect">
            <a:avLst/>
          </a:prstGeom>
        </p:spPr>
        <p:txBody>
          <a:bodyPr wrap="square" lIns="91440" tIns="45720" rIns="91440" bIns="45720" anchor="t">
            <a:spAutoFit/>
          </a:bodyPr>
          <a:lstStyle/>
          <a:p>
            <a:pPr marL="342900" indent="-342900">
              <a:buFont typeface="Arial" panose="020B0604020202020204" pitchFamily="34" charset="0"/>
              <a:buChar char="•"/>
            </a:pPr>
            <a:r>
              <a:rPr lang="en-IN" sz="2000" b="1" dirty="0">
                <a:latin typeface="Times New Roman"/>
                <a:cs typeface="Times New Roman"/>
              </a:rPr>
              <a:t>V2X Communication for Collaborative Intelligence</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a:cs typeface="Times New Roman"/>
              </a:rPr>
              <a:t>Autonomous vehicles rely on Vehicle-to-Everything (V2X) to exchange data with other vehicles (V2V) and infrastructure (V2I), enabling safer, more efficient, and coordinated driving beyond onboard sensors.</a:t>
            </a:r>
          </a:p>
          <a:p>
            <a:pPr marL="342900" indent="-342900">
              <a:buFont typeface="Arial" panose="020B0604020202020204" pitchFamily="34" charset="0"/>
              <a:buChar char="•"/>
            </a:pPr>
            <a:endParaRPr lang="en-IN"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Times New Roman"/>
                <a:cs typeface="Times New Roman"/>
              </a:rPr>
              <a:t>MQTT Protocol for Real-Time Data Exchange</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a:cs typeface="Times New Roman"/>
              </a:rPr>
              <a:t>MQTT’s lightweight publish-subscribe model efficiently handles frequent, small data packets like GPS and speed, making it ideal for real-time vehicle telemetry.</a:t>
            </a:r>
          </a:p>
          <a:p>
            <a:pPr marL="342900" indent="-342900">
              <a:buFont typeface="Arial" panose="020B0604020202020204" pitchFamily="34" charset="0"/>
              <a:buChar char="•"/>
            </a:pPr>
            <a:endParaRPr lang="en-IN"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Times New Roman"/>
                <a:cs typeface="Times New Roman"/>
              </a:rPr>
              <a:t>Virtual Testbeds for Safe Validation</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a:cs typeface="Times New Roman"/>
              </a:rPr>
              <a:t>Virtual environments allow safe, scalable testing of autonomous systems, validating communication and </a:t>
            </a:r>
            <a:r>
              <a:rPr lang="en-IN" sz="2000">
                <a:latin typeface="Times New Roman"/>
                <a:cs typeface="Times New Roman"/>
              </a:rPr>
              <a:t>behaviour</a:t>
            </a:r>
            <a:r>
              <a:rPr lang="en-IN" sz="2000" dirty="0">
                <a:latin typeface="Times New Roman"/>
                <a:cs typeface="Times New Roman"/>
              </a:rPr>
              <a:t> in realistic digital simulations before real-world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p:nvPr/>
        </p:nvSpPr>
        <p:spPr>
          <a:xfrm>
            <a:off x="457200" y="13258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Related works </a:t>
            </a:r>
            <a:endParaRPr>
              <a:latin typeface="Times New Roman" panose="02020603050405020304" pitchFamily="18" charset="0"/>
              <a:cs typeface="Times New Roman" panose="02020603050405020304" pitchFamily="18" charset="0"/>
            </a:endParaRPr>
          </a:p>
        </p:txBody>
      </p:sp>
      <p:sp>
        <p:nvSpPr>
          <p:cNvPr id="123" name="Google Shape;123;p18"/>
          <p:cNvSpPr txBox="1"/>
          <p:nvPr/>
        </p:nvSpPr>
        <p:spPr>
          <a:xfrm>
            <a:off x="457200" y="1188720"/>
            <a:ext cx="8229600" cy="4965192"/>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fi-FI" sz="2000">
                <a:latin typeface="Times New Roman" panose="02020603050405020304" pitchFamily="18" charset="0"/>
                <a:cs typeface="Times New Roman" panose="02020603050405020304" pitchFamily="18" charset="0"/>
              </a:rPr>
              <a:t>F. Oliva et al. [3] </a:t>
            </a:r>
            <a:r>
              <a:rPr lang="en-IN" sz="2000">
                <a:latin typeface="Times New Roman" panose="02020603050405020304" pitchFamily="18" charset="0"/>
                <a:cs typeface="Times New Roman" panose="02020603050405020304" pitchFamily="18" charset="0"/>
              </a:rPr>
              <a:t>developed and tested V2I communication for emergency vehicle priority and pedestrian safety in cities, showing the role of connected infrastructure in improving traffic efficiency.</a:t>
            </a:r>
          </a:p>
          <a:p>
            <a:pPr marL="342900" indent="-34290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 G. </a:t>
            </a:r>
            <a:r>
              <a:rPr lang="en-IN" sz="2000" err="1">
                <a:latin typeface="Times New Roman" panose="02020603050405020304" pitchFamily="18" charset="0"/>
                <a:cs typeface="Times New Roman" panose="02020603050405020304" pitchFamily="18" charset="0"/>
              </a:rPr>
              <a:t>Dharani</a:t>
            </a:r>
            <a:r>
              <a:rPr lang="en-IN" sz="2000">
                <a:latin typeface="Times New Roman" panose="02020603050405020304" pitchFamily="18" charset="0"/>
                <a:cs typeface="Times New Roman" panose="02020603050405020304" pitchFamily="18" charset="0"/>
              </a:rPr>
              <a:t> et al. [4] proposed a secure, efficient MQTT-based protocol for autonomous vehicles, demonstrating low-latency communication for V2X data exchange.</a:t>
            </a:r>
          </a:p>
          <a:p>
            <a:pPr marL="342900" indent="-342900">
              <a:buFont typeface="Arial" panose="020B0604020202020204" pitchFamily="34" charset="0"/>
              <a:buChar char="•"/>
            </a:pPr>
            <a:r>
              <a:rPr lang="da-DK" sz="2000">
                <a:latin typeface="Times New Roman" panose="02020603050405020304" pitchFamily="18" charset="0"/>
                <a:cs typeface="Times New Roman" panose="02020603050405020304" pitchFamily="18" charset="0"/>
              </a:rPr>
              <a:t>I. Argui et al. [6] </a:t>
            </a:r>
            <a:r>
              <a:rPr lang="en-IN" sz="2000">
                <a:latin typeface="Times New Roman" panose="02020603050405020304" pitchFamily="18" charset="0"/>
                <a:cs typeface="Times New Roman" panose="02020603050405020304" pitchFamily="18" charset="0"/>
              </a:rPr>
              <a:t>surveyed mixed-reality environments for testing AVs and ADAS, highlighting the use of virtual testing to ensure safety before deployment.</a:t>
            </a:r>
          </a:p>
          <a:p>
            <a:pPr marL="342900" indent="-342900">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S. </a:t>
            </a:r>
            <a:r>
              <a:rPr lang="en-IN" sz="2000" err="1">
                <a:latin typeface="Times New Roman" panose="02020603050405020304" pitchFamily="18" charset="0"/>
                <a:cs typeface="Times New Roman" panose="02020603050405020304" pitchFamily="18" charset="0"/>
              </a:rPr>
              <a:t>Lakshminarayana</a:t>
            </a:r>
            <a:r>
              <a:rPr lang="en-IN" sz="2000">
                <a:latin typeface="Times New Roman" panose="02020603050405020304" pitchFamily="18" charset="0"/>
                <a:cs typeface="Times New Roman" panose="02020603050405020304" pitchFamily="18" charset="0"/>
              </a:rPr>
              <a:t>, et al [8] reviewed MQTT security challenges at the </a:t>
            </a:r>
            <a:r>
              <a:rPr lang="en-IN" sz="2000" err="1">
                <a:latin typeface="Times New Roman" panose="02020603050405020304" pitchFamily="18" charset="0"/>
                <a:cs typeface="Times New Roman" panose="02020603050405020304" pitchFamily="18" charset="0"/>
              </a:rPr>
              <a:t>IoT</a:t>
            </a:r>
            <a:r>
              <a:rPr lang="en-IN" sz="2000">
                <a:latin typeface="Times New Roman" panose="02020603050405020304" pitchFamily="18" charset="0"/>
                <a:cs typeface="Times New Roman" panose="02020603050405020304" pitchFamily="18" charset="0"/>
              </a:rPr>
              <a:t> application layer and discussed lightweight approaches for safe, efficient communication.</a:t>
            </a:r>
          </a:p>
          <a:p>
            <a:pPr marL="342900" indent="-342900">
              <a:buFont typeface="Arial" panose="020B0604020202020204" pitchFamily="34" charset="0"/>
              <a:buChar char="•"/>
            </a:pPr>
            <a:r>
              <a:rPr lang="it-IT" sz="2000">
                <a:latin typeface="Times New Roman" panose="02020603050405020304" pitchFamily="18" charset="0"/>
                <a:cs typeface="Times New Roman" panose="02020603050405020304" pitchFamily="18" charset="0"/>
              </a:rPr>
              <a:t>M. A. Al-Shareefi et al. [9] </a:t>
            </a:r>
            <a:r>
              <a:rPr lang="en-IN" sz="2000">
                <a:latin typeface="Times New Roman" panose="02020603050405020304" pitchFamily="18" charset="0"/>
                <a:cs typeface="Times New Roman" panose="02020603050405020304" pitchFamily="18" charset="0"/>
              </a:rPr>
              <a:t>proposed an adaptive </a:t>
            </a:r>
            <a:r>
              <a:rPr lang="en-IN" sz="2000" err="1">
                <a:latin typeface="Times New Roman" panose="02020603050405020304" pitchFamily="18" charset="0"/>
                <a:cs typeface="Times New Roman" panose="02020603050405020304" pitchFamily="18" charset="0"/>
              </a:rPr>
              <a:t>QoS</a:t>
            </a:r>
            <a:r>
              <a:rPr lang="en-IN" sz="2000">
                <a:latin typeface="Times New Roman" panose="02020603050405020304" pitchFamily="18" charset="0"/>
                <a:cs typeface="Times New Roman" panose="02020603050405020304" pitchFamily="18" charset="0"/>
              </a:rPr>
              <a:t> framework for MQTT in V2I communication, improving reliability and latency under varying network conditions.</a:t>
            </a:r>
          </a:p>
        </p:txBody>
      </p:sp>
      <p:sp>
        <p:nvSpPr>
          <p:cNvPr id="124" name="Google Shape;124;p18"/>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25" name="Google Shape;125;p18"/>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Problem Formulation </a:t>
            </a:r>
            <a:endParaRPr>
              <a:latin typeface="Times New Roman" panose="02020603050405020304" pitchFamily="18" charset="0"/>
              <a:cs typeface="Times New Roman" panose="02020603050405020304" pitchFamily="18" charset="0"/>
            </a:endParaRPr>
          </a:p>
        </p:txBody>
      </p:sp>
      <p:sp>
        <p:nvSpPr>
          <p:cNvPr id="131" name="Google Shape;131;p19"/>
          <p:cNvSpPr txBo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342900" indent="-342900" fontAlgn="base">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Although much advancement has been made in self-driving technologies, real-time vehicle communication with centralized monitoring systems exists as a gap.</a:t>
            </a:r>
            <a:r>
              <a:rPr lang="en-US" sz="200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There is a need for a flexible and scalable virtual environment to study vehicle behaviour across a range of conditions.</a:t>
            </a:r>
            <a:r>
              <a:rPr lang="en-US" sz="200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Using autonomous vehicles in the real-world environment typically comes with high costs, safety concerns and challenges with scaling.</a:t>
            </a:r>
            <a:r>
              <a:rPr lang="en-US" sz="200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A lightweight solution for continuously communicating small updates in real-time is necessary.</a:t>
            </a:r>
            <a:r>
              <a:rPr lang="en-US" sz="2000">
                <a:latin typeface="Times New Roman" panose="02020603050405020304" pitchFamily="18" charset="0"/>
                <a:cs typeface="Times New Roman" panose="02020603050405020304" pitchFamily="18" charset="0"/>
              </a:rPr>
              <a:t>​</a:t>
            </a:r>
          </a:p>
        </p:txBody>
      </p:sp>
      <p:sp>
        <p:nvSpPr>
          <p:cNvPr id="132" name="Google Shape;132;p19"/>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33" name="Google Shape;133;p19"/>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a:extLst>
            <a:ext uri="{FF2B5EF4-FFF2-40B4-BE49-F238E27FC236}">
              <a16:creationId xmlns:a16="http://schemas.microsoft.com/office/drawing/2014/main" xmlns="" id="{443CE496-5121-8216-9009-90ACB8C18866}"/>
            </a:ext>
          </a:extLst>
        </p:cNvPr>
        <p:cNvGrpSpPr/>
        <p:nvPr/>
      </p:nvGrpSpPr>
      <p:grpSpPr>
        <a:xfrm>
          <a:off x="0" y="0"/>
          <a:ext cx="0" cy="0"/>
          <a:chOff x="0" y="0"/>
          <a:chExt cx="0" cy="0"/>
        </a:xfrm>
      </p:grpSpPr>
      <p:sp>
        <p:nvSpPr>
          <p:cNvPr id="138" name="Google Shape;138;p20">
            <a:extLst>
              <a:ext uri="{FF2B5EF4-FFF2-40B4-BE49-F238E27FC236}">
                <a16:creationId xmlns:a16="http://schemas.microsoft.com/office/drawing/2014/main" xmlns="" id="{0C8F4D37-9E54-83FC-E7EE-D3D109698A4D}"/>
              </a:ext>
            </a:extLst>
          </p:cNvPr>
          <p:cNvSpPr txBox="1"/>
          <p:nvPr/>
        </p:nvSpPr>
        <p:spPr>
          <a:xfrm>
            <a:off x="457198" y="177611"/>
            <a:ext cx="8229600" cy="63976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Proposed System </a:t>
            </a:r>
            <a:endParaRPr>
              <a:latin typeface="Times New Roman" panose="02020603050405020304" pitchFamily="18" charset="0"/>
              <a:cs typeface="Times New Roman" panose="02020603050405020304" pitchFamily="18" charset="0"/>
            </a:endParaRPr>
          </a:p>
        </p:txBody>
      </p:sp>
      <p:sp>
        <p:nvSpPr>
          <p:cNvPr id="139" name="Google Shape;139;p20">
            <a:extLst>
              <a:ext uri="{FF2B5EF4-FFF2-40B4-BE49-F238E27FC236}">
                <a16:creationId xmlns:a16="http://schemas.microsoft.com/office/drawing/2014/main" xmlns="" id="{8E1BAF6A-58E8-D85A-91DF-0CE5AD141EA6}"/>
              </a:ext>
            </a:extLst>
          </p:cNvPr>
          <p:cNvSpPr txBox="1"/>
          <p:nvPr/>
        </p:nvSpPr>
        <p:spPr>
          <a:xfrm>
            <a:off x="3209791" y="3789491"/>
            <a:ext cx="2724411" cy="288900"/>
          </a:xfrm>
          <a:prstGeom prst="rect">
            <a:avLst/>
          </a:prstGeom>
          <a:noFill/>
          <a:ln>
            <a:noFill/>
          </a:ln>
        </p:spPr>
        <p:txBody>
          <a:bodyPr spcFirstLastPara="1" wrap="square" lIns="91425" tIns="45700" rIns="91425" bIns="45700" anchor="t" anchorCtr="0">
            <a:noAutofit/>
          </a:bodyPr>
          <a:lstStyle/>
          <a:p>
            <a:pPr algn="ctr"/>
            <a:r>
              <a:rPr lang="en-US" sz="1200">
                <a:latin typeface="Times New Roman" panose="02020603050405020304" pitchFamily="18" charset="0"/>
                <a:cs typeface="Times New Roman" panose="02020603050405020304" pitchFamily="18" charset="0"/>
              </a:rPr>
              <a:t>Figure 1. System Architecture </a:t>
            </a:r>
          </a:p>
          <a:p>
            <a:pPr algn="ctr"/>
            <a:r>
              <a:rPr lang="en-US" sz="1200">
                <a:latin typeface="Times New Roman" panose="02020603050405020304" pitchFamily="18" charset="0"/>
                <a:cs typeface="Times New Roman" panose="02020603050405020304" pitchFamily="18" charset="0"/>
              </a:rPr>
              <a:t/>
            </a:r>
            <a:br>
              <a:rPr lang="en-US" sz="1200">
                <a:latin typeface="Times New Roman" panose="02020603050405020304" pitchFamily="18" charset="0"/>
                <a:cs typeface="Times New Roman" panose="02020603050405020304" pitchFamily="18" charset="0"/>
              </a:rPr>
            </a:br>
            <a:endParaRPr sz="20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40" name="Google Shape;140;p20">
            <a:extLst>
              <a:ext uri="{FF2B5EF4-FFF2-40B4-BE49-F238E27FC236}">
                <a16:creationId xmlns:a16="http://schemas.microsoft.com/office/drawing/2014/main" xmlns="" id="{4BE9CCE2-2425-5918-E7B4-797F0BAD06E4}"/>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41" name="Google Shape;141;p20">
            <a:extLst>
              <a:ext uri="{FF2B5EF4-FFF2-40B4-BE49-F238E27FC236}">
                <a16:creationId xmlns:a16="http://schemas.microsoft.com/office/drawing/2014/main" xmlns="" id="{6838EF7D-742E-9EF3-AE44-6F59A10B390E}"/>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pic>
        <p:nvPicPr>
          <p:cNvPr id="2" name="Picture 1">
            <a:extLst>
              <a:ext uri="{FF2B5EF4-FFF2-40B4-BE49-F238E27FC236}">
                <a16:creationId xmlns:a16="http://schemas.microsoft.com/office/drawing/2014/main" xmlns="" id="{DA2804B6-3556-91AA-740A-51B86644D0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2361173" y="927964"/>
            <a:ext cx="4421649" cy="2750937"/>
          </a:xfrm>
          <a:prstGeom prst="rect">
            <a:avLst/>
          </a:prstGeom>
          <a:noFill/>
          <a:ln>
            <a:solidFill>
              <a:schemeClr val="bg2"/>
            </a:solidFill>
          </a:ln>
        </p:spPr>
      </p:pic>
      <p:sp>
        <p:nvSpPr>
          <p:cNvPr id="4" name="TextBox 3">
            <a:extLst>
              <a:ext uri="{FF2B5EF4-FFF2-40B4-BE49-F238E27FC236}">
                <a16:creationId xmlns:a16="http://schemas.microsoft.com/office/drawing/2014/main" xmlns="" id="{CE748F61-61AA-AD7C-DBDF-2BFA88B65861}"/>
              </a:ext>
            </a:extLst>
          </p:cNvPr>
          <p:cNvSpPr txBox="1"/>
          <p:nvPr/>
        </p:nvSpPr>
        <p:spPr>
          <a:xfrm>
            <a:off x="457199" y="4123517"/>
            <a:ext cx="812313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Client–Server Architecture</a:t>
            </a:r>
            <a:r>
              <a:rPr lang="en-US" sz="1600">
                <a:latin typeface="Times New Roman" panose="02020603050405020304" pitchFamily="18" charset="0"/>
                <a:cs typeface="Times New Roman" panose="02020603050405020304" pitchFamily="18" charset="0"/>
              </a:rPr>
              <a:t>: Vehicles act as clients; FastAPI backend as centralized server.</a:t>
            </a:r>
          </a:p>
          <a:p>
            <a:pPr marL="285750" indent="-285750" algn="just">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Frontend (React)</a:t>
            </a:r>
            <a:r>
              <a:rPr lang="en-US" sz="1600">
                <a:latin typeface="Times New Roman" panose="02020603050405020304" pitchFamily="18" charset="0"/>
                <a:cs typeface="Times New Roman" panose="02020603050405020304" pitchFamily="18" charset="0"/>
              </a:rPr>
              <a:t>:</a:t>
            </a:r>
          </a:p>
          <a:p>
            <a:pPr lvl="1" algn="just"/>
            <a:r>
              <a:rPr lang="en-US" sz="1600" i="1">
                <a:latin typeface="Times New Roman" panose="02020603050405020304" pitchFamily="18" charset="0"/>
                <a:cs typeface="Times New Roman" panose="02020603050405020304" pitchFamily="18" charset="0"/>
              </a:rPr>
              <a:t>        User Dashboard</a:t>
            </a:r>
            <a:r>
              <a:rPr lang="en-US" sz="1600">
                <a:latin typeface="Times New Roman" panose="02020603050405020304" pitchFamily="18" charset="0"/>
                <a:cs typeface="Times New Roman" panose="02020603050405020304" pitchFamily="18" charset="0"/>
              </a:rPr>
              <a:t>: Real-time map, SOS alerts, geofencing, weather updates.</a:t>
            </a:r>
          </a:p>
          <a:p>
            <a:pPr lvl="1" algn="just"/>
            <a:r>
              <a:rPr lang="en-US" sz="1600" i="1">
                <a:latin typeface="Times New Roman" panose="02020603050405020304" pitchFamily="18" charset="0"/>
                <a:cs typeface="Times New Roman" panose="02020603050405020304" pitchFamily="18" charset="0"/>
              </a:rPr>
              <a:t>        Production Dashboard</a:t>
            </a:r>
            <a:r>
              <a:rPr lang="en-US" sz="1600">
                <a:latin typeface="Times New Roman" panose="02020603050405020304" pitchFamily="18" charset="0"/>
                <a:cs typeface="Times New Roman" panose="02020603050405020304" pitchFamily="18" charset="0"/>
              </a:rPr>
              <a:t>: Analytics via charts and reports.</a:t>
            </a:r>
          </a:p>
          <a:p>
            <a:pPr marL="285750" indent="-285750" algn="just">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Simulation</a:t>
            </a:r>
            <a:r>
              <a:rPr lang="en-US" sz="1600">
                <a:latin typeface="Times New Roman" panose="02020603050405020304" pitchFamily="18" charset="0"/>
                <a:cs typeface="Times New Roman" panose="02020603050405020304" pitchFamily="18" charset="0"/>
              </a:rPr>
              <a:t>: Mobile devices emulate vehicles, sending GPS &amp; velocity data.</a:t>
            </a:r>
          </a:p>
          <a:p>
            <a:pPr marL="285750" indent="-285750" algn="just">
              <a:buFont typeface="Arial" panose="020B0604020202020204" pitchFamily="34" charset="0"/>
              <a:buChar char="•"/>
            </a:pPr>
            <a:r>
              <a:rPr lang="en-US" sz="1600" b="1">
                <a:latin typeface="Times New Roman" panose="02020603050405020304" pitchFamily="18" charset="0"/>
                <a:cs typeface="Times New Roman" panose="02020603050405020304" pitchFamily="18" charset="0"/>
              </a:rPr>
              <a:t>Communication</a:t>
            </a:r>
            <a:r>
              <a:rPr lang="en-US" sz="1600">
                <a:latin typeface="Times New Roman" panose="02020603050405020304" pitchFamily="18" charset="0"/>
                <a:cs typeface="Times New Roman" panose="02020603050405020304" pitchFamily="18" charset="0"/>
              </a:rPr>
              <a:t>:</a:t>
            </a:r>
          </a:p>
          <a:p>
            <a:pPr lvl="1" algn="just"/>
            <a:r>
              <a:rPr lang="en-US" sz="1600" i="1">
                <a:latin typeface="Times New Roman" panose="02020603050405020304" pitchFamily="18" charset="0"/>
                <a:cs typeface="Times New Roman" panose="02020603050405020304" pitchFamily="18" charset="0"/>
              </a:rPr>
              <a:t>        MQTT</a:t>
            </a:r>
            <a:r>
              <a:rPr lang="en-US" sz="1600">
                <a:latin typeface="Times New Roman" panose="02020603050405020304" pitchFamily="18" charset="0"/>
                <a:cs typeface="Times New Roman" panose="02020603050405020304" pitchFamily="18" charset="0"/>
              </a:rPr>
              <a:t> – Lightweight vehicle-to-server data exchange.</a:t>
            </a:r>
          </a:p>
          <a:p>
            <a:pPr lvl="1" algn="just"/>
            <a:r>
              <a:rPr lang="en-US" sz="1600" i="1">
                <a:latin typeface="Times New Roman" panose="02020603050405020304" pitchFamily="18" charset="0"/>
                <a:cs typeface="Times New Roman" panose="02020603050405020304" pitchFamily="18" charset="0"/>
              </a:rPr>
              <a:t>        WebSocket’s</a:t>
            </a:r>
            <a:r>
              <a:rPr lang="en-US" sz="1600">
                <a:latin typeface="Times New Roman" panose="02020603050405020304" pitchFamily="18" charset="0"/>
                <a:cs typeface="Times New Roman" panose="02020603050405020304" pitchFamily="18" charset="0"/>
              </a:rPr>
              <a:t> – Real-time UI updates.</a:t>
            </a:r>
          </a:p>
          <a:p>
            <a:pPr algn="just"/>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675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a:extLst>
            <a:ext uri="{FF2B5EF4-FFF2-40B4-BE49-F238E27FC236}">
              <a16:creationId xmlns:a16="http://schemas.microsoft.com/office/drawing/2014/main" xmlns="" id="{31E63E29-12E8-9948-06C9-21D0ED81DE69}"/>
            </a:ext>
          </a:extLst>
        </p:cNvPr>
        <p:cNvGrpSpPr/>
        <p:nvPr/>
      </p:nvGrpSpPr>
      <p:grpSpPr>
        <a:xfrm>
          <a:off x="0" y="0"/>
          <a:ext cx="0" cy="0"/>
          <a:chOff x="0" y="0"/>
          <a:chExt cx="0" cy="0"/>
        </a:xfrm>
      </p:grpSpPr>
      <p:sp>
        <p:nvSpPr>
          <p:cNvPr id="138" name="Google Shape;138;p20">
            <a:extLst>
              <a:ext uri="{FF2B5EF4-FFF2-40B4-BE49-F238E27FC236}">
                <a16:creationId xmlns:a16="http://schemas.microsoft.com/office/drawing/2014/main" xmlns="" id="{E5011F71-2282-0312-9A21-EC8F247B664E}"/>
              </a:ext>
            </a:extLst>
          </p:cNvPr>
          <p:cNvSpPr txBox="1"/>
          <p:nvPr/>
        </p:nvSpPr>
        <p:spPr>
          <a:xfrm>
            <a:off x="457200" y="146629"/>
            <a:ext cx="8229600" cy="63976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Proposed System </a:t>
            </a:r>
            <a:endParaRPr>
              <a:latin typeface="Times New Roman" panose="02020603050405020304" pitchFamily="18" charset="0"/>
              <a:cs typeface="Times New Roman" panose="02020603050405020304" pitchFamily="18" charset="0"/>
            </a:endParaRPr>
          </a:p>
        </p:txBody>
      </p:sp>
      <p:sp>
        <p:nvSpPr>
          <p:cNvPr id="139" name="Google Shape;139;p20">
            <a:extLst>
              <a:ext uri="{FF2B5EF4-FFF2-40B4-BE49-F238E27FC236}">
                <a16:creationId xmlns:a16="http://schemas.microsoft.com/office/drawing/2014/main" xmlns="" id="{BB81B2E2-7F99-8083-4E2A-33CE09E16B1F}"/>
              </a:ext>
            </a:extLst>
          </p:cNvPr>
          <p:cNvSpPr txBox="1"/>
          <p:nvPr/>
        </p:nvSpPr>
        <p:spPr>
          <a:xfrm>
            <a:off x="5800594" y="5915334"/>
            <a:ext cx="2724411" cy="288900"/>
          </a:xfrm>
          <a:prstGeom prst="rect">
            <a:avLst/>
          </a:prstGeom>
          <a:noFill/>
          <a:ln>
            <a:noFill/>
          </a:ln>
        </p:spPr>
        <p:txBody>
          <a:bodyPr spcFirstLastPara="1" wrap="square" lIns="91425" tIns="45700" rIns="91425" bIns="45700" anchor="t" anchorCtr="0">
            <a:noAutofit/>
          </a:bodyPr>
          <a:lstStyle/>
          <a:p>
            <a:pPr algn="ctr"/>
            <a:r>
              <a:rPr lang="en-US" sz="1200">
                <a:latin typeface="Times New Roman" panose="02020603050405020304" pitchFamily="18" charset="0"/>
                <a:cs typeface="Times New Roman" panose="02020603050405020304" pitchFamily="18" charset="0"/>
              </a:rPr>
              <a:t>Figure 2. Dataflow diagram</a:t>
            </a:r>
          </a:p>
        </p:txBody>
      </p:sp>
      <p:sp>
        <p:nvSpPr>
          <p:cNvPr id="140" name="Google Shape;140;p20">
            <a:extLst>
              <a:ext uri="{FF2B5EF4-FFF2-40B4-BE49-F238E27FC236}">
                <a16:creationId xmlns:a16="http://schemas.microsoft.com/office/drawing/2014/main" xmlns="" id="{6F5E3BD4-780F-0040-6CA7-046CB29DC979}"/>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41" name="Google Shape;141;p20">
            <a:extLst>
              <a:ext uri="{FF2B5EF4-FFF2-40B4-BE49-F238E27FC236}">
                <a16:creationId xmlns:a16="http://schemas.microsoft.com/office/drawing/2014/main" xmlns="" id="{77C9FEB0-1640-0469-A010-77C20B526445}"/>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sp>
        <p:nvSpPr>
          <p:cNvPr id="4" name="TextBox 3">
            <a:extLst>
              <a:ext uri="{FF2B5EF4-FFF2-40B4-BE49-F238E27FC236}">
                <a16:creationId xmlns:a16="http://schemas.microsoft.com/office/drawing/2014/main" xmlns="" id="{29BC49EC-A685-22E8-AB36-6F0153AB2C31}"/>
              </a:ext>
            </a:extLst>
          </p:cNvPr>
          <p:cNvSpPr txBox="1"/>
          <p:nvPr/>
        </p:nvSpPr>
        <p:spPr>
          <a:xfrm>
            <a:off x="250825" y="925498"/>
            <a:ext cx="4321175" cy="4708981"/>
          </a:xfrm>
          <a:prstGeom prst="rect">
            <a:avLst/>
          </a:prstGeom>
          <a:noFill/>
        </p:spPr>
        <p:txBody>
          <a:bodyPr wrap="square" lIns="91440" tIns="45720" rIns="91440" bIns="45720" rtlCol="0" anchor="t">
            <a:spAutoFit/>
          </a:bodyPr>
          <a:lstStyle/>
          <a:p>
            <a:pPr marL="285750" lvl="0" indent="-285750" algn="just"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a:cs typeface="Times New Roman"/>
              </a:rPr>
              <a:t>Input:</a:t>
            </a:r>
            <a:r>
              <a:rPr lang="en-US" altLang="en-US" sz="2000" dirty="0">
                <a:solidFill>
                  <a:schemeClr val="tx1"/>
                </a:solidFill>
                <a:latin typeface="Times New Roman"/>
                <a:cs typeface="Times New Roman"/>
              </a:rPr>
              <a:t> The Mobile Tracker sends GPS and sensor data.</a:t>
            </a:r>
          </a:p>
          <a:p>
            <a:pPr marL="285750" lvl="0" indent="-285750" algn="just"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a:cs typeface="Times New Roman"/>
              </a:rPr>
              <a:t>Processing:</a:t>
            </a:r>
            <a:r>
              <a:rPr lang="en-US" altLang="en-US" sz="2000" dirty="0">
                <a:solidFill>
                  <a:schemeClr val="tx1"/>
                </a:solidFill>
                <a:latin typeface="Times New Roman"/>
                <a:cs typeface="Times New Roman"/>
              </a:rPr>
              <a:t> The data is read, parsed, and checked.</a:t>
            </a:r>
          </a:p>
          <a:p>
            <a:pPr marL="285750" lvl="0" indent="-285750" algn="just"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a:cs typeface="Times New Roman"/>
              </a:rPr>
              <a:t>Storage &amp; Alerts:</a:t>
            </a:r>
            <a:endParaRPr lang="en-US" altLang="en-US" sz="2000">
              <a:solidFill>
                <a:schemeClr val="tx1"/>
              </a:solidFill>
              <a:latin typeface="Times New Roman" panose="02020603050405020304" pitchFamily="18" charset="0"/>
              <a:cs typeface="Times New Roman" panose="02020603050405020304" pitchFamily="18" charset="0"/>
            </a:endParaRPr>
          </a:p>
          <a:p>
            <a:pPr marL="363220" lvl="2" algn="just" eaLnBrk="0" fontAlgn="base" hangingPunct="0">
              <a:spcBef>
                <a:spcPct val="0"/>
              </a:spcBef>
              <a:spcAft>
                <a:spcPct val="0"/>
              </a:spcAft>
              <a:buClrTx/>
              <a:tabLst>
                <a:tab pos="1790700" algn="l"/>
              </a:tabLst>
            </a:pPr>
            <a:r>
              <a:rPr lang="en-US" altLang="en-US" sz="2000" dirty="0">
                <a:solidFill>
                  <a:schemeClr val="tx1"/>
                </a:solidFill>
                <a:latin typeface="Times New Roman"/>
                <a:cs typeface="Times New Roman"/>
              </a:rPr>
              <a:t>Latest data is saved to the Local DB.</a:t>
            </a:r>
          </a:p>
          <a:p>
            <a:pPr marL="363220" lvl="2" algn="just" eaLnBrk="0" fontAlgn="base" hangingPunct="0">
              <a:spcBef>
                <a:spcPct val="0"/>
              </a:spcBef>
              <a:spcAft>
                <a:spcPct val="0"/>
              </a:spcAft>
              <a:buClrTx/>
              <a:tabLst>
                <a:tab pos="1790700" algn="l"/>
              </a:tabLst>
            </a:pPr>
            <a:r>
              <a:rPr lang="en-US" altLang="en-US" sz="2000" dirty="0">
                <a:solidFill>
                  <a:schemeClr val="tx1"/>
                </a:solidFill>
                <a:latin typeface="Times New Roman"/>
                <a:cs typeface="Times New Roman"/>
              </a:rPr>
              <a:t>Data is also sent for an Emergency Check (for speed/zone rules), which logs and triggers alerts.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a:cs typeface="Times New Roman"/>
              </a:rPr>
              <a:t>Frontend:</a:t>
            </a:r>
            <a:r>
              <a:rPr lang="en-US" altLang="en-US" sz="2000" dirty="0">
                <a:solidFill>
                  <a:schemeClr val="tx1"/>
                </a:solidFill>
                <a:latin typeface="Times New Roman"/>
                <a:cs typeface="Times New Roman"/>
              </a:rPr>
              <a:t> The system collects data from the DB, emergency alerts, and external weather/traffic feeds.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a:cs typeface="Times New Roman"/>
              </a:rPr>
              <a:t>Output:</a:t>
            </a:r>
            <a:r>
              <a:rPr lang="en-US" altLang="en-US" sz="2000" dirty="0">
                <a:solidFill>
                  <a:schemeClr val="tx1"/>
                </a:solidFill>
                <a:latin typeface="Times New Roman"/>
                <a:cs typeface="Times New Roman"/>
              </a:rPr>
              <a:t> This combined information is sent via WebSocket to the Live Dashboard for visualization.</a:t>
            </a:r>
          </a:p>
        </p:txBody>
      </p:sp>
      <p:pic>
        <p:nvPicPr>
          <p:cNvPr id="3" name="Picture 2">
            <a:extLst>
              <a:ext uri="{FF2B5EF4-FFF2-40B4-BE49-F238E27FC236}">
                <a16:creationId xmlns:a16="http://schemas.microsoft.com/office/drawing/2014/main" xmlns="" id="{C8FACF3D-8CE9-0D5B-E446-844B178F59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4807961" y="925498"/>
            <a:ext cx="4085214" cy="4956783"/>
          </a:xfrm>
          <a:prstGeom prst="rect">
            <a:avLst/>
          </a:prstGeom>
          <a:noFill/>
          <a:ln>
            <a:solidFill>
              <a:schemeClr val="bg2"/>
            </a:solidFill>
          </a:ln>
        </p:spPr>
      </p:pic>
    </p:spTree>
    <p:extLst>
      <p:ext uri="{BB962C8B-B14F-4D97-AF65-F5344CB8AC3E}">
        <p14:creationId xmlns:p14="http://schemas.microsoft.com/office/powerpoint/2010/main" val="3485511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p:nvPr/>
        </p:nvSpPr>
        <p:spPr>
          <a:xfrm>
            <a:off x="457200" y="274637"/>
            <a:ext cx="8229600" cy="7288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Results </a:t>
            </a:r>
            <a:endParaRPr>
              <a:latin typeface="Times New Roman" panose="02020603050405020304" pitchFamily="18" charset="0"/>
              <a:cs typeface="Times New Roman" panose="02020603050405020304" pitchFamily="18" charset="0"/>
            </a:endParaRPr>
          </a:p>
        </p:txBody>
      </p:sp>
      <p:sp>
        <p:nvSpPr>
          <p:cNvPr id="147" name="Google Shape;147;p21"/>
          <p:cNvSpPr txBox="1"/>
          <p:nvPr/>
        </p:nvSpPr>
        <p:spPr>
          <a:xfrm>
            <a:off x="457200" y="4988522"/>
            <a:ext cx="8229600" cy="728840"/>
          </a:xfrm>
          <a:prstGeom prst="rect">
            <a:avLst/>
          </a:prstGeom>
          <a:noFill/>
          <a:ln>
            <a:noFill/>
          </a:ln>
        </p:spPr>
        <p:txBody>
          <a:bodyPr spcFirstLastPara="1" wrap="square" lIns="91425" tIns="45700" rIns="91425" bIns="45700" anchor="t" anchorCtr="0">
            <a:noAutofit/>
          </a:bodyPr>
          <a:lstStyle/>
          <a:p>
            <a:pPr lvl="0"/>
            <a:r>
              <a:rPr lang="en-US" sz="2000">
                <a:latin typeface="Times New Roman" panose="02020603050405020304" pitchFamily="18" charset="0"/>
                <a:cs typeface="Times New Roman" panose="02020603050405020304" pitchFamily="18" charset="0"/>
              </a:rPr>
              <a:t>The system features two dedicated dashboards: a </a:t>
            </a:r>
            <a:r>
              <a:rPr lang="en-US" sz="2000" b="1">
                <a:latin typeface="Times New Roman" panose="02020603050405020304" pitchFamily="18" charset="0"/>
                <a:cs typeface="Times New Roman" panose="02020603050405020304" pitchFamily="18" charset="0"/>
              </a:rPr>
              <a:t>User Dashboard</a:t>
            </a:r>
            <a:r>
              <a:rPr lang="en-US" sz="2000">
                <a:latin typeface="Times New Roman" panose="02020603050405020304" pitchFamily="18" charset="0"/>
                <a:cs typeface="Times New Roman" panose="02020603050405020304" pitchFamily="18" charset="0"/>
              </a:rPr>
              <a:t> for individual drivers and a </a:t>
            </a:r>
            <a:r>
              <a:rPr lang="en-US" sz="2000" b="1">
                <a:latin typeface="Times New Roman" panose="02020603050405020304" pitchFamily="18" charset="0"/>
                <a:cs typeface="Times New Roman" panose="02020603050405020304" pitchFamily="18" charset="0"/>
              </a:rPr>
              <a:t>Production Dashboard</a:t>
            </a:r>
            <a:r>
              <a:rPr lang="en-US" sz="2000">
                <a:latin typeface="Times New Roman" panose="02020603050405020304" pitchFamily="18" charset="0"/>
                <a:cs typeface="Times New Roman" panose="02020603050405020304" pitchFamily="18" charset="0"/>
              </a:rPr>
              <a:t> for fleet administrators.​</a:t>
            </a:r>
            <a:endParaRPr sz="36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48" name="Google Shape;148;p21"/>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49" name="Google Shape;149;p21"/>
          <p:cNvPicPr preferRelativeResize="0"/>
          <p:nvPr/>
        </p:nvPicPr>
        <p:blipFill rotWithShape="1">
          <a:blip r:embed="rId3">
            <a:alphaModFix/>
          </a:blip>
          <a:srcRect/>
          <a:stretch/>
        </p:blipFill>
        <p:spPr>
          <a:xfrm>
            <a:off x="7162800" y="6237287"/>
            <a:ext cx="2017712" cy="719137"/>
          </a:xfrm>
          <a:prstGeom prst="rect">
            <a:avLst/>
          </a:prstGeom>
          <a:noFill/>
          <a:ln>
            <a:noFill/>
          </a:ln>
        </p:spPr>
      </p:pic>
      <p:sp>
        <p:nvSpPr>
          <p:cNvPr id="2" name="TextBox 1">
            <a:extLst>
              <a:ext uri="{FF2B5EF4-FFF2-40B4-BE49-F238E27FC236}">
                <a16:creationId xmlns:a16="http://schemas.microsoft.com/office/drawing/2014/main" xmlns="" id="{BFD7F14F-E857-0B4E-88E2-A1A482F2AAE1}"/>
              </a:ext>
            </a:extLst>
          </p:cNvPr>
          <p:cNvSpPr txBox="1"/>
          <p:nvPr/>
        </p:nvSpPr>
        <p:spPr>
          <a:xfrm>
            <a:off x="3137769" y="4587462"/>
            <a:ext cx="2868461" cy="276999"/>
          </a:xfrm>
          <a:prstGeom prst="rect">
            <a:avLst/>
          </a:prstGeom>
          <a:noFill/>
        </p:spPr>
        <p:txBody>
          <a:bodyPr wrap="square" rtlCol="0">
            <a:spAutoFit/>
          </a:bodyPr>
          <a:lstStyle/>
          <a:p>
            <a:pPr algn="ctr"/>
            <a:r>
              <a:rPr lang="en-US" sz="1200">
                <a:latin typeface="Times New Roman" panose="02020603050405020304" pitchFamily="18" charset="0"/>
                <a:cs typeface="Times New Roman" panose="02020603050405020304" pitchFamily="18" charset="0"/>
              </a:rPr>
              <a:t>Figure 4. Landing Page​</a:t>
            </a:r>
          </a:p>
        </p:txBody>
      </p:sp>
      <p:pic>
        <p:nvPicPr>
          <p:cNvPr id="3" name="Picture 2">
            <a:extLst>
              <a:ext uri="{FF2B5EF4-FFF2-40B4-BE49-F238E27FC236}">
                <a16:creationId xmlns:a16="http://schemas.microsoft.com/office/drawing/2014/main" xmlns="" id="{10C8A431-3056-A502-7737-35205BB4F592}"/>
              </a:ext>
            </a:extLst>
          </p:cNvPr>
          <p:cNvPicPr>
            <a:picLocks noChangeAspect="1"/>
          </p:cNvPicPr>
          <p:nvPr/>
        </p:nvPicPr>
        <p:blipFill>
          <a:blip r:embed="rId4" cstate="print">
            <a:extLst>
              <a:ext uri="{28A0092B-C50C-407E-A947-70E740481C1C}">
                <a14:useLocalDpi xmlns:a14="http://schemas.microsoft.com/office/drawing/2010/main" val="0"/>
              </a:ext>
            </a:extLst>
          </a:blip>
          <a:srcRect l="11445" r="11101" b="4191"/>
          <a:stretch>
            <a:fillRect/>
          </a:stretch>
        </p:blipFill>
        <p:spPr>
          <a:xfrm>
            <a:off x="2440573" y="1003477"/>
            <a:ext cx="4262854" cy="3518796"/>
          </a:xfrm>
          <a:prstGeom prst="rect">
            <a:avLst/>
          </a:prstGeom>
          <a:ln>
            <a:solidFill>
              <a:schemeClr val="bg1">
                <a:lumMod val="8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xmlns="" id="{7B4A9084-B0DE-2E58-722D-407D52519D94}"/>
            </a:ext>
          </a:extLst>
        </p:cNvPr>
        <p:cNvGrpSpPr/>
        <p:nvPr/>
      </p:nvGrpSpPr>
      <p:grpSpPr>
        <a:xfrm>
          <a:off x="0" y="0"/>
          <a:ext cx="0" cy="0"/>
          <a:chOff x="0" y="0"/>
          <a:chExt cx="0" cy="0"/>
        </a:xfrm>
      </p:grpSpPr>
      <p:sp>
        <p:nvSpPr>
          <p:cNvPr id="146" name="Google Shape;146;p21">
            <a:extLst>
              <a:ext uri="{FF2B5EF4-FFF2-40B4-BE49-F238E27FC236}">
                <a16:creationId xmlns:a16="http://schemas.microsoft.com/office/drawing/2014/main" xmlns="" id="{FD572F76-3621-2B21-30DE-2D6DE39F2B22}"/>
              </a:ext>
            </a:extLst>
          </p:cNvPr>
          <p:cNvSpPr txBox="1"/>
          <p:nvPr/>
        </p:nvSpPr>
        <p:spPr>
          <a:xfrm>
            <a:off x="457200" y="274637"/>
            <a:ext cx="8229600" cy="7288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Results </a:t>
            </a:r>
            <a:endParaRPr>
              <a:latin typeface="Times New Roman" panose="02020603050405020304" pitchFamily="18" charset="0"/>
              <a:cs typeface="Times New Roman" panose="02020603050405020304" pitchFamily="18" charset="0"/>
            </a:endParaRPr>
          </a:p>
        </p:txBody>
      </p:sp>
      <p:sp>
        <p:nvSpPr>
          <p:cNvPr id="147" name="Google Shape;147;p21">
            <a:extLst>
              <a:ext uri="{FF2B5EF4-FFF2-40B4-BE49-F238E27FC236}">
                <a16:creationId xmlns:a16="http://schemas.microsoft.com/office/drawing/2014/main" xmlns="" id="{0311A2C8-3CE9-D512-DF02-A09D1DC893D0}"/>
              </a:ext>
            </a:extLst>
          </p:cNvPr>
          <p:cNvSpPr txBox="1"/>
          <p:nvPr/>
        </p:nvSpPr>
        <p:spPr>
          <a:xfrm>
            <a:off x="457200" y="4768404"/>
            <a:ext cx="8229600" cy="728840"/>
          </a:xfrm>
          <a:prstGeom prst="rect">
            <a:avLst/>
          </a:prstGeom>
          <a:noFill/>
          <a:ln>
            <a:noFill/>
          </a:ln>
        </p:spPr>
        <p:txBody>
          <a:bodyPr spcFirstLastPara="1" wrap="square" lIns="91425" tIns="45700" rIns="91425" bIns="45700" anchor="t" anchorCtr="0">
            <a:noAutofit/>
          </a:bodyPr>
          <a:lstStyle/>
          <a:p>
            <a:pPr lvl="0"/>
            <a:r>
              <a:rPr lang="en-US" sz="2000">
                <a:latin typeface="Times New Roman" panose="02020603050405020304" pitchFamily="18" charset="0"/>
                <a:cs typeface="Times New Roman" panose="02020603050405020304" pitchFamily="18" charset="0"/>
              </a:rPr>
              <a:t>The </a:t>
            </a:r>
            <a:r>
              <a:rPr lang="en-US" sz="2000" b="1">
                <a:latin typeface="Times New Roman" panose="02020603050405020304" pitchFamily="18" charset="0"/>
                <a:cs typeface="Times New Roman" panose="02020603050405020304" pitchFamily="18" charset="0"/>
              </a:rPr>
              <a:t>Production Mode Dashboard</a:t>
            </a:r>
            <a:r>
              <a:rPr lang="en-US" sz="2000">
                <a:latin typeface="Times New Roman" panose="02020603050405020304" pitchFamily="18" charset="0"/>
                <a:cs typeface="Times New Roman" panose="02020603050405020304" pitchFamily="18" charset="0"/>
              </a:rPr>
              <a:t> offers a comprehensive view of the vehicle fleet’s performance through various visualizations that provide insights into overall fleet efficiency and operational trends. ​</a:t>
            </a:r>
            <a:endParaRPr sz="48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48" name="Google Shape;148;p21">
            <a:extLst>
              <a:ext uri="{FF2B5EF4-FFF2-40B4-BE49-F238E27FC236}">
                <a16:creationId xmlns:a16="http://schemas.microsoft.com/office/drawing/2014/main" xmlns="" id="{92C8B1D6-B24C-3A6A-BD65-4FC45013ED61}"/>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49" name="Google Shape;149;p21">
            <a:extLst>
              <a:ext uri="{FF2B5EF4-FFF2-40B4-BE49-F238E27FC236}">
                <a16:creationId xmlns:a16="http://schemas.microsoft.com/office/drawing/2014/main" xmlns="" id="{B96BC0F5-35CF-214C-FD13-258A96896FAB}"/>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sp>
        <p:nvSpPr>
          <p:cNvPr id="2" name="TextBox 1">
            <a:extLst>
              <a:ext uri="{FF2B5EF4-FFF2-40B4-BE49-F238E27FC236}">
                <a16:creationId xmlns:a16="http://schemas.microsoft.com/office/drawing/2014/main" xmlns="" id="{6D692A9E-A09B-80A6-A2F2-5F9C245F39DB}"/>
              </a:ext>
            </a:extLst>
          </p:cNvPr>
          <p:cNvSpPr txBox="1"/>
          <p:nvPr/>
        </p:nvSpPr>
        <p:spPr>
          <a:xfrm>
            <a:off x="3137766" y="4380277"/>
            <a:ext cx="2868461" cy="276999"/>
          </a:xfrm>
          <a:prstGeom prst="rect">
            <a:avLst/>
          </a:prstGeom>
          <a:noFill/>
        </p:spPr>
        <p:txBody>
          <a:bodyPr wrap="square" rtlCol="0">
            <a:spAutoFit/>
          </a:bodyPr>
          <a:lstStyle/>
          <a:p>
            <a:pPr algn="ctr"/>
            <a:r>
              <a:rPr lang="fr-FR" sz="1200">
                <a:latin typeface="Times New Roman" panose="02020603050405020304" pitchFamily="18" charset="0"/>
                <a:cs typeface="Times New Roman" panose="02020603050405020304" pitchFamily="18" charset="0"/>
              </a:rPr>
              <a:t>Figure 5. Production Mode Dashboard​</a:t>
            </a:r>
            <a:endParaRPr lang="en-US" sz="11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ADD4C41F-0C2C-9FE2-B4CD-E2980E5B0A8B}"/>
              </a:ext>
            </a:extLst>
          </p:cNvPr>
          <p:cNvPicPr>
            <a:picLocks noChangeAspect="1"/>
          </p:cNvPicPr>
          <p:nvPr/>
        </p:nvPicPr>
        <p:blipFill>
          <a:blip r:embed="rId4"/>
          <a:srcRect l="8870" r="10008"/>
          <a:stretch>
            <a:fillRect/>
          </a:stretch>
        </p:blipFill>
        <p:spPr>
          <a:xfrm>
            <a:off x="2368731" y="1003477"/>
            <a:ext cx="4345578" cy="3376800"/>
          </a:xfrm>
          <a:prstGeom prst="rect">
            <a:avLst/>
          </a:prstGeom>
          <a:ln>
            <a:solidFill>
              <a:schemeClr val="bg1">
                <a:lumMod val="95000"/>
              </a:schemeClr>
            </a:solidFill>
          </a:ln>
        </p:spPr>
      </p:pic>
    </p:spTree>
    <p:extLst>
      <p:ext uri="{BB962C8B-B14F-4D97-AF65-F5344CB8AC3E}">
        <p14:creationId xmlns:p14="http://schemas.microsoft.com/office/powerpoint/2010/main" val="207516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xmlns="" id="{501216CA-8C77-4725-C46C-581BB87A0B09}"/>
            </a:ext>
          </a:extLst>
        </p:cNvPr>
        <p:cNvGrpSpPr/>
        <p:nvPr/>
      </p:nvGrpSpPr>
      <p:grpSpPr>
        <a:xfrm>
          <a:off x="0" y="0"/>
          <a:ext cx="0" cy="0"/>
          <a:chOff x="0" y="0"/>
          <a:chExt cx="0" cy="0"/>
        </a:xfrm>
      </p:grpSpPr>
      <p:sp>
        <p:nvSpPr>
          <p:cNvPr id="146" name="Google Shape;146;p21">
            <a:extLst>
              <a:ext uri="{FF2B5EF4-FFF2-40B4-BE49-F238E27FC236}">
                <a16:creationId xmlns:a16="http://schemas.microsoft.com/office/drawing/2014/main" xmlns="" id="{F2940D71-BD58-8531-8D41-96093A54C4CD}"/>
              </a:ext>
            </a:extLst>
          </p:cNvPr>
          <p:cNvSpPr txBox="1"/>
          <p:nvPr/>
        </p:nvSpPr>
        <p:spPr>
          <a:xfrm>
            <a:off x="457200" y="274637"/>
            <a:ext cx="8229600" cy="58939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Results </a:t>
            </a:r>
            <a:endParaRPr>
              <a:latin typeface="Times New Roman" panose="02020603050405020304" pitchFamily="18" charset="0"/>
              <a:cs typeface="Times New Roman" panose="02020603050405020304" pitchFamily="18" charset="0"/>
            </a:endParaRPr>
          </a:p>
        </p:txBody>
      </p:sp>
      <p:sp>
        <p:nvSpPr>
          <p:cNvPr id="147" name="Google Shape;147;p21">
            <a:extLst>
              <a:ext uri="{FF2B5EF4-FFF2-40B4-BE49-F238E27FC236}">
                <a16:creationId xmlns:a16="http://schemas.microsoft.com/office/drawing/2014/main" xmlns="" id="{2A3335A5-130E-D6DA-03AE-114DA84D3422}"/>
              </a:ext>
            </a:extLst>
          </p:cNvPr>
          <p:cNvSpPr txBox="1"/>
          <p:nvPr/>
        </p:nvSpPr>
        <p:spPr>
          <a:xfrm>
            <a:off x="468567" y="4652392"/>
            <a:ext cx="8229600" cy="728840"/>
          </a:xfrm>
          <a:prstGeom prst="rect">
            <a:avLst/>
          </a:prstGeom>
          <a:noFill/>
          <a:ln>
            <a:noFill/>
          </a:ln>
        </p:spPr>
        <p:txBody>
          <a:bodyPr spcFirstLastPara="1" wrap="square" lIns="91425" tIns="45700" rIns="91425" bIns="45700" anchor="t" anchorCtr="0">
            <a:noAutofit/>
          </a:bodyPr>
          <a:lstStyle/>
          <a:p>
            <a:pPr lvl="0"/>
            <a:r>
              <a:rPr lang="en-US" sz="2000">
                <a:latin typeface="Times New Roman" panose="02020603050405020304" pitchFamily="18" charset="0"/>
                <a:cs typeface="Times New Roman" panose="02020603050405020304" pitchFamily="18" charset="0"/>
              </a:rPr>
              <a:t>The </a:t>
            </a:r>
            <a:r>
              <a:rPr lang="en-US" sz="2000" b="1">
                <a:latin typeface="Times New Roman" panose="02020603050405020304" pitchFamily="18" charset="0"/>
                <a:cs typeface="Times New Roman" panose="02020603050405020304" pitchFamily="18" charset="0"/>
              </a:rPr>
              <a:t>User Mode Dashboard</a:t>
            </a:r>
            <a:r>
              <a:rPr lang="en-US" sz="2000">
                <a:latin typeface="Times New Roman" panose="02020603050405020304" pitchFamily="18" charset="0"/>
                <a:cs typeface="Times New Roman" panose="02020603050405020304" pitchFamily="18" charset="0"/>
              </a:rPr>
              <a:t> features an interactive map displaying all vehicles in the system, allowing users to monitor their battery status, motion status and also nearby vehicles in real time. Also, users can view current weather conditions and report accidents by specifying their intensity​</a:t>
            </a:r>
            <a:endParaRPr sz="48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48" name="Google Shape;148;p21">
            <a:extLst>
              <a:ext uri="{FF2B5EF4-FFF2-40B4-BE49-F238E27FC236}">
                <a16:creationId xmlns:a16="http://schemas.microsoft.com/office/drawing/2014/main" xmlns="" id="{6DBEAC30-B9AB-73F5-11DD-848F356DF0D0}"/>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49" name="Google Shape;149;p21">
            <a:extLst>
              <a:ext uri="{FF2B5EF4-FFF2-40B4-BE49-F238E27FC236}">
                <a16:creationId xmlns:a16="http://schemas.microsoft.com/office/drawing/2014/main" xmlns="" id="{78AE08A3-34A5-7F66-55C1-B362026DB612}"/>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sp>
        <p:nvSpPr>
          <p:cNvPr id="2" name="TextBox 1">
            <a:extLst>
              <a:ext uri="{FF2B5EF4-FFF2-40B4-BE49-F238E27FC236}">
                <a16:creationId xmlns:a16="http://schemas.microsoft.com/office/drawing/2014/main" xmlns="" id="{14C52826-A552-AEBB-8281-7524334112A5}"/>
              </a:ext>
            </a:extLst>
          </p:cNvPr>
          <p:cNvSpPr txBox="1"/>
          <p:nvPr/>
        </p:nvSpPr>
        <p:spPr>
          <a:xfrm>
            <a:off x="3137769" y="4231542"/>
            <a:ext cx="2868461" cy="261610"/>
          </a:xfrm>
          <a:prstGeom prst="rect">
            <a:avLst/>
          </a:prstGeom>
          <a:noFill/>
        </p:spPr>
        <p:txBody>
          <a:bodyPr wrap="square" rtlCol="0">
            <a:spAutoFit/>
          </a:bodyPr>
          <a:lstStyle/>
          <a:p>
            <a:pPr algn="ctr"/>
            <a:r>
              <a:rPr lang="fr-FR" sz="1100">
                <a:latin typeface="Times New Roman" panose="02020603050405020304" pitchFamily="18" charset="0"/>
                <a:cs typeface="Times New Roman" panose="02020603050405020304" pitchFamily="18" charset="0"/>
              </a:rPr>
              <a:t>Figure 6. User Mode Dashboard​</a:t>
            </a:r>
            <a:endParaRPr lang="en-US" sz="105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FB9858FA-9FC7-848A-6328-A1E1836F5697}"/>
              </a:ext>
            </a:extLst>
          </p:cNvPr>
          <p:cNvPicPr>
            <a:picLocks noChangeAspect="1"/>
          </p:cNvPicPr>
          <p:nvPr/>
        </p:nvPicPr>
        <p:blipFill>
          <a:blip r:embed="rId4" cstate="print">
            <a:extLst>
              <a:ext uri="{28A0092B-C50C-407E-A947-70E740481C1C}">
                <a14:useLocalDpi xmlns:a14="http://schemas.microsoft.com/office/drawing/2010/main" val="0"/>
              </a:ext>
            </a:extLst>
          </a:blip>
          <a:srcRect l="6110" r="5350"/>
          <a:stretch>
            <a:fillRect/>
          </a:stretch>
        </p:blipFill>
        <p:spPr>
          <a:xfrm>
            <a:off x="2307771" y="1124681"/>
            <a:ext cx="4567654" cy="3106861"/>
          </a:xfrm>
          <a:prstGeom prst="rect">
            <a:avLst/>
          </a:prstGeom>
          <a:ln>
            <a:solidFill>
              <a:schemeClr val="bg1">
                <a:lumMod val="95000"/>
              </a:schemeClr>
            </a:solidFill>
          </a:ln>
        </p:spPr>
      </p:pic>
    </p:spTree>
    <p:extLst>
      <p:ext uri="{BB962C8B-B14F-4D97-AF65-F5344CB8AC3E}">
        <p14:creationId xmlns:p14="http://schemas.microsoft.com/office/powerpoint/2010/main" val="1011986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xmlns="" id="{1855DA6D-30C8-0619-D42E-A7206870E5FA}"/>
            </a:ext>
          </a:extLst>
        </p:cNvPr>
        <p:cNvGrpSpPr/>
        <p:nvPr/>
      </p:nvGrpSpPr>
      <p:grpSpPr>
        <a:xfrm>
          <a:off x="0" y="0"/>
          <a:ext cx="0" cy="0"/>
          <a:chOff x="0" y="0"/>
          <a:chExt cx="0" cy="0"/>
        </a:xfrm>
      </p:grpSpPr>
      <p:sp>
        <p:nvSpPr>
          <p:cNvPr id="154" name="Google Shape;154;p22">
            <a:extLst>
              <a:ext uri="{FF2B5EF4-FFF2-40B4-BE49-F238E27FC236}">
                <a16:creationId xmlns:a16="http://schemas.microsoft.com/office/drawing/2014/main" xmlns="" id="{A0A85560-BEBB-8EE9-1D21-60803BD48AEE}"/>
              </a:ext>
            </a:extLst>
          </p:cNvPr>
          <p:cNvSpPr txBox="1"/>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Comparison </a:t>
            </a:r>
            <a:endParaRPr>
              <a:latin typeface="Times New Roman" panose="02020603050405020304" pitchFamily="18" charset="0"/>
              <a:cs typeface="Times New Roman" panose="02020603050405020304" pitchFamily="18" charset="0"/>
            </a:endParaRPr>
          </a:p>
        </p:txBody>
      </p:sp>
      <p:sp>
        <p:nvSpPr>
          <p:cNvPr id="156" name="Google Shape;156;p22">
            <a:extLst>
              <a:ext uri="{FF2B5EF4-FFF2-40B4-BE49-F238E27FC236}">
                <a16:creationId xmlns:a16="http://schemas.microsoft.com/office/drawing/2014/main" xmlns="" id="{38EA6CAA-0BE4-50F8-1A34-10DFC91F35F9}"/>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57" name="Google Shape;157;p22">
            <a:extLst>
              <a:ext uri="{FF2B5EF4-FFF2-40B4-BE49-F238E27FC236}">
                <a16:creationId xmlns:a16="http://schemas.microsoft.com/office/drawing/2014/main" xmlns="" id="{1E8E29DB-25C3-915E-4144-76916FF7C848}"/>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graphicFrame>
        <p:nvGraphicFramePr>
          <p:cNvPr id="3" name="Table 2">
            <a:extLst>
              <a:ext uri="{FF2B5EF4-FFF2-40B4-BE49-F238E27FC236}">
                <a16:creationId xmlns:a16="http://schemas.microsoft.com/office/drawing/2014/main" xmlns="" id="{4845C276-6A94-B1D9-D742-AFAEA693AD8D}"/>
              </a:ext>
            </a:extLst>
          </p:cNvPr>
          <p:cNvGraphicFramePr>
            <a:graphicFrameLocks noGrp="1"/>
          </p:cNvGraphicFramePr>
          <p:nvPr>
            <p:extLst>
              <p:ext uri="{D42A27DB-BD31-4B8C-83A1-F6EECF244321}">
                <p14:modId xmlns:p14="http://schemas.microsoft.com/office/powerpoint/2010/main" val="3387808921"/>
              </p:ext>
            </p:extLst>
          </p:nvPr>
        </p:nvGraphicFramePr>
        <p:xfrm>
          <a:off x="667512" y="1397000"/>
          <a:ext cx="7900416" cy="4272280"/>
        </p:xfrm>
        <a:graphic>
          <a:graphicData uri="http://schemas.openxmlformats.org/drawingml/2006/table">
            <a:tbl>
              <a:tblPr firstRow="1" bandRow="1">
                <a:tableStyleId>{21E4AEA4-8DFA-4A89-87EB-49C32662AFE0}</a:tableStyleId>
              </a:tblPr>
              <a:tblGrid>
                <a:gridCol w="2734056">
                  <a:extLst>
                    <a:ext uri="{9D8B030D-6E8A-4147-A177-3AD203B41FA5}">
                      <a16:colId xmlns:a16="http://schemas.microsoft.com/office/drawing/2014/main" xmlns="" val="3623230741"/>
                    </a:ext>
                  </a:extLst>
                </a:gridCol>
                <a:gridCol w="2642616">
                  <a:extLst>
                    <a:ext uri="{9D8B030D-6E8A-4147-A177-3AD203B41FA5}">
                      <a16:colId xmlns:a16="http://schemas.microsoft.com/office/drawing/2014/main" xmlns="" val="1053074287"/>
                    </a:ext>
                  </a:extLst>
                </a:gridCol>
                <a:gridCol w="2523744">
                  <a:extLst>
                    <a:ext uri="{9D8B030D-6E8A-4147-A177-3AD203B41FA5}">
                      <a16:colId xmlns:a16="http://schemas.microsoft.com/office/drawing/2014/main" xmlns="" val="4289869455"/>
                    </a:ext>
                  </a:extLst>
                </a:gridCol>
              </a:tblGrid>
              <a:tr h="370840">
                <a:tc>
                  <a:txBody>
                    <a:bodyPr/>
                    <a:lstStyle/>
                    <a:p>
                      <a:pPr algn="ctr"/>
                      <a:r>
                        <a:rPr lang="en-US">
                          <a:latin typeface="Times New Roman"/>
                        </a:rPr>
                        <a:t>Reference Paper</a:t>
                      </a:r>
                      <a:endParaRPr lang="en-IN">
                        <a:latin typeface="Times New Roman"/>
                      </a:endParaRPr>
                    </a:p>
                  </a:txBody>
                  <a:tcPr/>
                </a:tc>
                <a:tc>
                  <a:txBody>
                    <a:bodyPr/>
                    <a:lstStyle/>
                    <a:p>
                      <a:pPr algn="ctr"/>
                      <a:r>
                        <a:rPr lang="en-US">
                          <a:latin typeface="Times New Roman"/>
                        </a:rPr>
                        <a:t>Existing Work</a:t>
                      </a:r>
                      <a:endParaRPr lang="en-IN">
                        <a:latin typeface="Times New Roman"/>
                      </a:endParaRPr>
                    </a:p>
                  </a:txBody>
                  <a:tcPr/>
                </a:tc>
                <a:tc>
                  <a:txBody>
                    <a:bodyPr/>
                    <a:lstStyle/>
                    <a:p>
                      <a:pPr algn="ctr"/>
                      <a:r>
                        <a:rPr lang="en-US">
                          <a:latin typeface="Times New Roman"/>
                        </a:rPr>
                        <a:t>Our Contribution</a:t>
                      </a:r>
                      <a:endParaRPr lang="en-IN">
                        <a:latin typeface="Times New Roman"/>
                      </a:endParaRPr>
                    </a:p>
                  </a:txBody>
                  <a:tcPr/>
                </a:tc>
                <a:extLst>
                  <a:ext uri="{0D108BD9-81ED-4DB2-BD59-A6C34878D82A}">
                    <a16:rowId xmlns:a16="http://schemas.microsoft.com/office/drawing/2014/main" xmlns="" val="151726522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latin typeface="Times New Roman"/>
                          <a:cs typeface="Times New Roman"/>
                        </a:rPr>
                        <a:t>[1] </a:t>
                      </a:r>
                      <a:r>
                        <a:rPr lang="en-IN" sz="1400" b="0" i="0" u="none" strike="noStrike" cap="none">
                          <a:solidFill>
                            <a:schemeClr val="dk1"/>
                          </a:solidFill>
                          <a:effectLst/>
                          <a:latin typeface="Times New Roman"/>
                          <a:ea typeface="+mn-ea"/>
                          <a:cs typeface="+mn-cs"/>
                          <a:sym typeface="Arial"/>
                        </a:rPr>
                        <a:t>Ali et al., </a:t>
                      </a:r>
                      <a:r>
                        <a:rPr lang="en-US" sz="1400" b="1">
                          <a:latin typeface="Times New Roman"/>
                          <a:cs typeface="Times New Roman"/>
                        </a:rPr>
                        <a:t>Navigating the Challenges and Opportunities of Securing Internet of Autonomous Vehicles With Lightweight Authentication </a:t>
                      </a:r>
                      <a:r>
                        <a:rPr lang="en-US" sz="1400">
                          <a:latin typeface="Times New Roman"/>
                          <a:cs typeface="Times New Roman"/>
                        </a:rPr>
                        <a:t>(2025) ​</a:t>
                      </a:r>
                    </a:p>
                    <a:p>
                      <a:endParaRPr lang="en-IN">
                        <a:latin typeface="Times New Roman"/>
                      </a:endParaRPr>
                    </a:p>
                  </a:txBody>
                  <a:tcPr/>
                </a:tc>
                <a:tc>
                  <a:txBody>
                    <a:bodyPr/>
                    <a:lstStyle/>
                    <a:p>
                      <a:pPr algn="l"/>
                      <a:r>
                        <a:rPr lang="en-US" sz="1400" b="0" i="0" u="none" strike="noStrike" cap="none">
                          <a:solidFill>
                            <a:schemeClr val="dk1"/>
                          </a:solidFill>
                          <a:effectLst/>
                          <a:latin typeface="Times New Roman"/>
                          <a:ea typeface="+mn-ea"/>
                          <a:cs typeface="+mn-cs"/>
                          <a:sym typeface="Arial"/>
                        </a:rPr>
                        <a:t>A lightweight authentication framework for securing communication.</a:t>
                      </a:r>
                      <a:endParaRPr lang="en-IN" b="0">
                        <a:latin typeface="Times New Roman"/>
                      </a:endParaRPr>
                    </a:p>
                  </a:txBody>
                  <a:tcPr/>
                </a:tc>
                <a:tc>
                  <a:txBody>
                    <a:bodyPr/>
                    <a:lstStyle/>
                    <a:p>
                      <a:r>
                        <a:rPr lang="en-US" sz="1400" b="0" i="0" u="none" strike="noStrike" cap="none">
                          <a:solidFill>
                            <a:schemeClr val="dk1"/>
                          </a:solidFill>
                          <a:effectLst/>
                          <a:latin typeface="Times New Roman"/>
                          <a:ea typeface="+mn-ea"/>
                          <a:cs typeface="+mn-cs"/>
                          <a:sym typeface="Arial"/>
                        </a:rPr>
                        <a:t>A design of a communication framework that is aware of its environment to support dynamic changes.</a:t>
                      </a:r>
                      <a:endParaRPr lang="en-IN" b="0">
                        <a:latin typeface="Times New Roman"/>
                      </a:endParaRPr>
                    </a:p>
                  </a:txBody>
                  <a:tcPr/>
                </a:tc>
                <a:extLst>
                  <a:ext uri="{0D108BD9-81ED-4DB2-BD59-A6C34878D82A}">
                    <a16:rowId xmlns:a16="http://schemas.microsoft.com/office/drawing/2014/main" xmlns="" val="378587433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latin typeface="Times New Roman"/>
                          <a:cs typeface="Times New Roman"/>
                        </a:rPr>
                        <a:t>[2]</a:t>
                      </a:r>
                      <a:r>
                        <a:rPr lang="en-US" sz="1400" b="1">
                          <a:latin typeface="Times New Roman"/>
                          <a:cs typeface="Times New Roman"/>
                        </a:rPr>
                        <a:t> </a:t>
                      </a:r>
                      <a:r>
                        <a:rPr lang="en-IN" sz="1400" b="1" i="0" u="none" strike="noStrike" cap="none">
                          <a:solidFill>
                            <a:schemeClr val="dk1"/>
                          </a:solidFill>
                          <a:effectLst/>
                          <a:latin typeface="Times New Roman"/>
                          <a:ea typeface="+mn-ea"/>
                          <a:cs typeface="+mn-cs"/>
                          <a:sym typeface="Arial"/>
                        </a:rPr>
                        <a:t> </a:t>
                      </a:r>
                      <a:r>
                        <a:rPr lang="en-IN" sz="1400" b="0" i="0" u="none" strike="noStrike" cap="none">
                          <a:solidFill>
                            <a:schemeClr val="dk1"/>
                          </a:solidFill>
                          <a:effectLst/>
                          <a:latin typeface="Times New Roman"/>
                          <a:ea typeface="+mn-ea"/>
                          <a:cs typeface="+mn-cs"/>
                          <a:sym typeface="Arial"/>
                        </a:rPr>
                        <a:t>Balcerek &amp; Pawłowski, </a:t>
                      </a:r>
                      <a:r>
                        <a:rPr lang="en-US" sz="1400" b="1">
                          <a:latin typeface="Times New Roman"/>
                          <a:cs typeface="Times New Roman"/>
                        </a:rPr>
                        <a:t>Interaction-Based Vehicle Automation Model for Intelligent Vision Systems </a:t>
                      </a:r>
                      <a:r>
                        <a:rPr lang="en-US" sz="1400">
                          <a:latin typeface="Times New Roman"/>
                          <a:cs typeface="Times New Roman"/>
                        </a:rPr>
                        <a:t>(2025)​</a:t>
                      </a:r>
                    </a:p>
                    <a:p>
                      <a:endParaRPr lang="en-IN">
                        <a:latin typeface="Times New Roman"/>
                      </a:endParaRPr>
                    </a:p>
                  </a:txBody>
                  <a:tcPr/>
                </a:tc>
                <a:tc>
                  <a:txBody>
                    <a:bodyPr/>
                    <a:lstStyle/>
                    <a:p>
                      <a:r>
                        <a:rPr lang="en-IN" sz="1400" b="0" i="0" u="none" strike="noStrike" cap="none">
                          <a:solidFill>
                            <a:schemeClr val="dk1"/>
                          </a:solidFill>
                          <a:effectLst/>
                          <a:latin typeface="Times New Roman"/>
                          <a:ea typeface="+mn-ea"/>
                          <a:cs typeface="+mn-cs"/>
                          <a:sym typeface="Arial"/>
                        </a:rPr>
                        <a:t>An interaction-based vehicle automation model for intelligent vision systems (onboard perception).</a:t>
                      </a:r>
                      <a:endParaRPr lang="en-IN">
                        <a:latin typeface="Times New Roman"/>
                      </a:endParaRPr>
                    </a:p>
                  </a:txBody>
                  <a:tcPr/>
                </a:tc>
                <a:tc>
                  <a:txBody>
                    <a:bodyPr/>
                    <a:lstStyle/>
                    <a:p>
                      <a:r>
                        <a:rPr lang="en-US" sz="1400" b="0" i="0" u="none" strike="noStrike" cap="none">
                          <a:solidFill>
                            <a:schemeClr val="dk1"/>
                          </a:solidFill>
                          <a:effectLst/>
                          <a:latin typeface="Times New Roman"/>
                          <a:ea typeface="+mn-ea"/>
                          <a:cs typeface="+mn-cs"/>
                          <a:sym typeface="Arial"/>
                        </a:rPr>
                        <a:t>Vehicles will be able to monitor the actions of surrounding vehicles, beyond their immediate local surroundings.</a:t>
                      </a:r>
                      <a:endParaRPr lang="en-IN" b="0">
                        <a:latin typeface="Times New Roman"/>
                      </a:endParaRPr>
                    </a:p>
                  </a:txBody>
                  <a:tcPr/>
                </a:tc>
                <a:extLst>
                  <a:ext uri="{0D108BD9-81ED-4DB2-BD59-A6C34878D82A}">
                    <a16:rowId xmlns:a16="http://schemas.microsoft.com/office/drawing/2014/main" xmlns="" val="259416552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latin typeface="Times New Roman"/>
                          <a:cs typeface="Times New Roman"/>
                        </a:rPr>
                        <a:t>[3]</a:t>
                      </a:r>
                      <a:r>
                        <a:rPr lang="en-US" sz="1400" b="1">
                          <a:latin typeface="Times New Roman"/>
                          <a:cs typeface="Times New Roman"/>
                        </a:rPr>
                        <a:t> </a:t>
                      </a:r>
                      <a:r>
                        <a:rPr lang="en-IN" sz="1400" b="0" i="0" u="none" strike="noStrike" cap="none">
                          <a:solidFill>
                            <a:schemeClr val="dk1"/>
                          </a:solidFill>
                          <a:effectLst/>
                          <a:latin typeface="Times New Roman"/>
                          <a:ea typeface="+mn-ea"/>
                          <a:cs typeface="+mn-cs"/>
                          <a:sym typeface="Arial"/>
                        </a:rPr>
                        <a:t>Oliva et al., </a:t>
                      </a:r>
                      <a:r>
                        <a:rPr lang="en-US" sz="1400" b="1">
                          <a:latin typeface="Times New Roman"/>
                          <a:cs typeface="Times New Roman"/>
                        </a:rPr>
                        <a:t>Implementation and Testing of V2I Communication Strategies for Emergency Vehicle Priority and Pedestrian Safety </a:t>
                      </a:r>
                      <a:r>
                        <a:rPr lang="en-US" sz="1400">
                          <a:latin typeface="Times New Roman"/>
                          <a:cs typeface="Times New Roman"/>
                        </a:rPr>
                        <a:t>(2025)​</a:t>
                      </a:r>
                    </a:p>
                    <a:p>
                      <a:endParaRPr lang="en-IN">
                        <a:latin typeface="Times New Roman"/>
                      </a:endParaRPr>
                    </a:p>
                  </a:txBody>
                  <a:tcPr/>
                </a:tc>
                <a:tc>
                  <a:txBody>
                    <a:bodyPr/>
                    <a:lstStyle/>
                    <a:p>
                      <a:r>
                        <a:rPr lang="en-US" sz="1400" b="0" i="0" u="none" strike="noStrike" cap="none">
                          <a:solidFill>
                            <a:schemeClr val="dk1"/>
                          </a:solidFill>
                          <a:effectLst/>
                          <a:latin typeface="Times New Roman"/>
                          <a:ea typeface="+mn-ea"/>
                          <a:cs typeface="+mn-cs"/>
                          <a:sym typeface="Arial"/>
                        </a:rPr>
                        <a:t>Implementation and testing of V2I communication strategies using real infrastructure for specific safety use cases.</a:t>
                      </a:r>
                      <a:endParaRPr lang="en-IN">
                        <a:latin typeface="Times New Roman"/>
                      </a:endParaRPr>
                    </a:p>
                  </a:txBody>
                  <a:tcPr/>
                </a:tc>
                <a:tc>
                  <a:txBody>
                    <a:bodyPr/>
                    <a:lstStyle/>
                    <a:p>
                      <a:r>
                        <a:rPr lang="en-US" sz="1400" b="0" i="0" u="none" strike="noStrike" cap="none">
                          <a:solidFill>
                            <a:schemeClr val="dk1"/>
                          </a:solidFill>
                          <a:effectLst/>
                          <a:latin typeface="Times New Roman"/>
                          <a:ea typeface="+mn-ea"/>
                          <a:cs typeface="+mn-cs"/>
                          <a:sym typeface="Arial"/>
                        </a:rPr>
                        <a:t>A flexible and scalable virtual environment to study vehicle </a:t>
                      </a:r>
                      <a:r>
                        <a:rPr lang="en-US" sz="1400" b="0" i="0" u="none" strike="noStrike" cap="none" err="1">
                          <a:solidFill>
                            <a:schemeClr val="dk1"/>
                          </a:solidFill>
                          <a:effectLst/>
                          <a:latin typeface="Times New Roman"/>
                          <a:ea typeface="+mn-ea"/>
                          <a:cs typeface="+mn-cs"/>
                          <a:sym typeface="Arial"/>
                        </a:rPr>
                        <a:t>behaviour</a:t>
                      </a:r>
                      <a:r>
                        <a:rPr lang="en-US" sz="1400" b="0" i="0" u="none" strike="noStrike" cap="none">
                          <a:solidFill>
                            <a:schemeClr val="dk1"/>
                          </a:solidFill>
                          <a:effectLst/>
                          <a:latin typeface="Times New Roman"/>
                          <a:ea typeface="+mn-ea"/>
                          <a:cs typeface="+mn-cs"/>
                          <a:sym typeface="Arial"/>
                        </a:rPr>
                        <a:t> across a range of conditions.</a:t>
                      </a:r>
                      <a:endParaRPr lang="en-IN" b="0">
                        <a:latin typeface="Times New Roman"/>
                      </a:endParaRPr>
                    </a:p>
                  </a:txBody>
                  <a:tcPr/>
                </a:tc>
                <a:extLst>
                  <a:ext uri="{0D108BD9-81ED-4DB2-BD59-A6C34878D82A}">
                    <a16:rowId xmlns:a16="http://schemas.microsoft.com/office/drawing/2014/main" xmlns="" val="868296932"/>
                  </a:ext>
                </a:extLst>
              </a:tr>
            </a:tbl>
          </a:graphicData>
        </a:graphic>
      </p:graphicFrame>
    </p:spTree>
    <p:extLst>
      <p:ext uri="{BB962C8B-B14F-4D97-AF65-F5344CB8AC3E}">
        <p14:creationId xmlns:p14="http://schemas.microsoft.com/office/powerpoint/2010/main" val="1103933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xmlns="" id="{6BA99887-B187-B503-1EA0-FA0ACE5275AB}"/>
            </a:ext>
          </a:extLst>
        </p:cNvPr>
        <p:cNvGrpSpPr/>
        <p:nvPr/>
      </p:nvGrpSpPr>
      <p:grpSpPr>
        <a:xfrm>
          <a:off x="0" y="0"/>
          <a:ext cx="0" cy="0"/>
          <a:chOff x="0" y="0"/>
          <a:chExt cx="0" cy="0"/>
        </a:xfrm>
      </p:grpSpPr>
      <p:sp>
        <p:nvSpPr>
          <p:cNvPr id="154" name="Google Shape;154;p22">
            <a:extLst>
              <a:ext uri="{FF2B5EF4-FFF2-40B4-BE49-F238E27FC236}">
                <a16:creationId xmlns:a16="http://schemas.microsoft.com/office/drawing/2014/main" xmlns="" id="{75792155-E731-505C-C2D0-0525C357222C}"/>
              </a:ext>
            </a:extLst>
          </p:cNvPr>
          <p:cNvSpPr txBox="1"/>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Comparison </a:t>
            </a:r>
            <a:endParaRPr>
              <a:latin typeface="Times New Roman" panose="02020603050405020304" pitchFamily="18" charset="0"/>
              <a:cs typeface="Times New Roman" panose="02020603050405020304" pitchFamily="18" charset="0"/>
            </a:endParaRPr>
          </a:p>
        </p:txBody>
      </p:sp>
      <p:sp>
        <p:nvSpPr>
          <p:cNvPr id="156" name="Google Shape;156;p22">
            <a:extLst>
              <a:ext uri="{FF2B5EF4-FFF2-40B4-BE49-F238E27FC236}">
                <a16:creationId xmlns:a16="http://schemas.microsoft.com/office/drawing/2014/main" xmlns="" id="{F2B129BF-DE41-BE15-4CF5-286FD5D1123C}"/>
              </a:ext>
            </a:extLst>
          </p:cNvPr>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57" name="Google Shape;157;p22">
            <a:extLst>
              <a:ext uri="{FF2B5EF4-FFF2-40B4-BE49-F238E27FC236}">
                <a16:creationId xmlns:a16="http://schemas.microsoft.com/office/drawing/2014/main" xmlns="" id="{D2A7D736-BC00-0C13-C37A-0A07E04ECC77}"/>
              </a:ext>
            </a:extLst>
          </p:cNvPr>
          <p:cNvPicPr preferRelativeResize="0"/>
          <p:nvPr/>
        </p:nvPicPr>
        <p:blipFill rotWithShape="1">
          <a:blip r:embed="rId3">
            <a:alphaModFix/>
          </a:blip>
          <a:srcRect/>
          <a:stretch/>
        </p:blipFill>
        <p:spPr>
          <a:xfrm>
            <a:off x="7162800" y="6237287"/>
            <a:ext cx="2017712" cy="719137"/>
          </a:xfrm>
          <a:prstGeom prst="rect">
            <a:avLst/>
          </a:prstGeom>
          <a:noFill/>
          <a:ln>
            <a:noFill/>
          </a:ln>
        </p:spPr>
      </p:pic>
      <p:graphicFrame>
        <p:nvGraphicFramePr>
          <p:cNvPr id="3" name="Table 2">
            <a:extLst>
              <a:ext uri="{FF2B5EF4-FFF2-40B4-BE49-F238E27FC236}">
                <a16:creationId xmlns:a16="http://schemas.microsoft.com/office/drawing/2014/main" xmlns="" id="{86AD91E6-15F6-F101-D4A2-AED477E622BD}"/>
              </a:ext>
            </a:extLst>
          </p:cNvPr>
          <p:cNvGraphicFramePr>
            <a:graphicFrameLocks noGrp="1"/>
          </p:cNvGraphicFramePr>
          <p:nvPr>
            <p:extLst>
              <p:ext uri="{D42A27DB-BD31-4B8C-83A1-F6EECF244321}">
                <p14:modId xmlns:p14="http://schemas.microsoft.com/office/powerpoint/2010/main" val="2665394505"/>
              </p:ext>
            </p:extLst>
          </p:nvPr>
        </p:nvGraphicFramePr>
        <p:xfrm>
          <a:off x="667512" y="1397000"/>
          <a:ext cx="7900416" cy="3114040"/>
        </p:xfrm>
        <a:graphic>
          <a:graphicData uri="http://schemas.openxmlformats.org/drawingml/2006/table">
            <a:tbl>
              <a:tblPr firstRow="1" bandRow="1">
                <a:tableStyleId>{21E4AEA4-8DFA-4A89-87EB-49C32662AFE0}</a:tableStyleId>
              </a:tblPr>
              <a:tblGrid>
                <a:gridCol w="2734056">
                  <a:extLst>
                    <a:ext uri="{9D8B030D-6E8A-4147-A177-3AD203B41FA5}">
                      <a16:colId xmlns:a16="http://schemas.microsoft.com/office/drawing/2014/main" xmlns="" val="3623230741"/>
                    </a:ext>
                  </a:extLst>
                </a:gridCol>
                <a:gridCol w="2532888">
                  <a:extLst>
                    <a:ext uri="{9D8B030D-6E8A-4147-A177-3AD203B41FA5}">
                      <a16:colId xmlns:a16="http://schemas.microsoft.com/office/drawing/2014/main" xmlns="" val="1053074287"/>
                    </a:ext>
                  </a:extLst>
                </a:gridCol>
                <a:gridCol w="2633472">
                  <a:extLst>
                    <a:ext uri="{9D8B030D-6E8A-4147-A177-3AD203B41FA5}">
                      <a16:colId xmlns:a16="http://schemas.microsoft.com/office/drawing/2014/main" xmlns="" val="4289869455"/>
                    </a:ext>
                  </a:extLst>
                </a:gridCol>
              </a:tblGrid>
              <a:tr h="370840">
                <a:tc>
                  <a:txBody>
                    <a:bodyPr/>
                    <a:lstStyle/>
                    <a:p>
                      <a:pPr algn="ctr"/>
                      <a:r>
                        <a:rPr lang="en-US">
                          <a:latin typeface="Times New Roman"/>
                        </a:rPr>
                        <a:t>Reference Paper</a:t>
                      </a:r>
                      <a:endParaRPr lang="en-IN">
                        <a:latin typeface="Times New Roman"/>
                      </a:endParaRPr>
                    </a:p>
                  </a:txBody>
                  <a:tcPr/>
                </a:tc>
                <a:tc>
                  <a:txBody>
                    <a:bodyPr/>
                    <a:lstStyle/>
                    <a:p>
                      <a:pPr algn="ctr"/>
                      <a:r>
                        <a:rPr lang="en-US">
                          <a:latin typeface="Times New Roman"/>
                        </a:rPr>
                        <a:t>Existing Work</a:t>
                      </a:r>
                      <a:endParaRPr lang="en-IN">
                        <a:latin typeface="Times New Roman"/>
                      </a:endParaRPr>
                    </a:p>
                  </a:txBody>
                  <a:tcPr/>
                </a:tc>
                <a:tc>
                  <a:txBody>
                    <a:bodyPr/>
                    <a:lstStyle/>
                    <a:p>
                      <a:pPr algn="ctr"/>
                      <a:r>
                        <a:rPr lang="en-US">
                          <a:latin typeface="Times New Roman"/>
                        </a:rPr>
                        <a:t>Our Contribution</a:t>
                      </a:r>
                      <a:endParaRPr lang="en-IN">
                        <a:latin typeface="Times New Roman"/>
                      </a:endParaRPr>
                    </a:p>
                  </a:txBody>
                  <a:tcPr/>
                </a:tc>
                <a:extLst>
                  <a:ext uri="{0D108BD9-81ED-4DB2-BD59-A6C34878D82A}">
                    <a16:rowId xmlns:a16="http://schemas.microsoft.com/office/drawing/2014/main" xmlns="" val="151726522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latin typeface="Times New Roman"/>
                          <a:cs typeface="Times New Roman"/>
                        </a:rPr>
                        <a:t>[4] </a:t>
                      </a:r>
                      <a:r>
                        <a:rPr lang="en-US" sz="1400" b="0" i="0" u="none" strike="noStrike" cap="none">
                          <a:solidFill>
                            <a:schemeClr val="dk1"/>
                          </a:solidFill>
                          <a:effectLst/>
                          <a:latin typeface="Times New Roman"/>
                          <a:ea typeface="+mn-ea"/>
                          <a:cs typeface="+mn-cs"/>
                          <a:sym typeface="Arial"/>
                        </a:rPr>
                        <a:t>S. G. Dharani</a:t>
                      </a:r>
                      <a:r>
                        <a:rPr lang="en-IN" sz="1400" b="1" i="0" u="none" strike="noStrike" cap="none">
                          <a:solidFill>
                            <a:schemeClr val="dk1"/>
                          </a:solidFill>
                          <a:effectLst/>
                          <a:latin typeface="Times New Roman"/>
                          <a:ea typeface="+mn-ea"/>
                          <a:cs typeface="+mn-cs"/>
                          <a:sym typeface="Arial"/>
                        </a:rPr>
                        <a:t> </a:t>
                      </a:r>
                      <a:r>
                        <a:rPr lang="en-IN" sz="1400" b="0" i="0" u="none" strike="noStrike" cap="none">
                          <a:solidFill>
                            <a:schemeClr val="dk1"/>
                          </a:solidFill>
                          <a:effectLst/>
                          <a:latin typeface="Times New Roman"/>
                          <a:ea typeface="+mn-ea"/>
                          <a:cs typeface="+mn-cs"/>
                          <a:sym typeface="Arial"/>
                        </a:rPr>
                        <a:t>et al., </a:t>
                      </a:r>
                      <a:r>
                        <a:rPr lang="en-US" sz="1400" b="1" i="0" u="none" strike="noStrike" cap="none">
                          <a:solidFill>
                            <a:schemeClr val="dk1"/>
                          </a:solidFill>
                          <a:effectLst/>
                          <a:latin typeface="Times New Roman"/>
                          <a:ea typeface="+mn-ea"/>
                          <a:cs typeface="+mn-cs"/>
                          <a:sym typeface="Arial"/>
                        </a:rPr>
                        <a:t>A Novel MQTT-Based Secure and Efficient Data Transmission Protocol for Autonomous Vehicles </a:t>
                      </a:r>
                      <a:r>
                        <a:rPr lang="en-US" sz="1400">
                          <a:latin typeface="Times New Roman"/>
                          <a:cs typeface="Times New Roman"/>
                        </a:rPr>
                        <a:t>(2024) ​</a:t>
                      </a:r>
                    </a:p>
                    <a:p>
                      <a:endParaRPr lang="en-IN">
                        <a:latin typeface="Times New Roman"/>
                      </a:endParaRPr>
                    </a:p>
                  </a:txBody>
                  <a:tcPr/>
                </a:tc>
                <a:tc>
                  <a:txBody>
                    <a:bodyPr/>
                    <a:lstStyle/>
                    <a:p>
                      <a:pPr lvl="0">
                        <a:buNone/>
                      </a:pPr>
                      <a:r>
                        <a:rPr lang="en-US" sz="1400" b="0" i="0" u="none" strike="noStrike" cap="none" noProof="0">
                          <a:solidFill>
                            <a:srgbClr val="0F1115"/>
                          </a:solidFill>
                          <a:effectLst/>
                          <a:latin typeface="Times New Roman"/>
                        </a:rPr>
                        <a:t>Design of a new, </a:t>
                      </a:r>
                      <a:r>
                        <a:rPr lang="en-US" sz="1400" b="0" i="0" u="none" strike="noStrike" cap="none" noProof="0">
                          <a:solidFill>
                            <a:srgbClr val="0F1115"/>
                          </a:solidFill>
                          <a:effectLst/>
                          <a:latin typeface="Times New Roman"/>
                          <a:sym typeface="Arial"/>
                        </a:rPr>
                        <a:t>secure </a:t>
                      </a:r>
                      <a:r>
                        <a:rPr lang="en-US" sz="1400" b="0" i="0" u="none" strike="noStrike" cap="none" noProof="0">
                          <a:solidFill>
                            <a:srgbClr val="0F1115"/>
                          </a:solidFill>
                          <a:effectLst/>
                          <a:latin typeface="Times New Roman"/>
                        </a:rPr>
                        <a:t>variant of the </a:t>
                      </a:r>
                      <a:r>
                        <a:rPr lang="en-US" sz="1400" b="0" i="0" u="none" strike="noStrike" cap="none" noProof="0">
                          <a:solidFill>
                            <a:srgbClr val="0F1115"/>
                          </a:solidFill>
                          <a:effectLst/>
                          <a:latin typeface="Times New Roman"/>
                          <a:sym typeface="Arial"/>
                        </a:rPr>
                        <a:t>MQTT</a:t>
                      </a:r>
                      <a:r>
                        <a:rPr lang="en-US" sz="1400" b="0" i="0" u="none" strike="noStrike" cap="none" noProof="0">
                          <a:solidFill>
                            <a:srgbClr val="0F1115"/>
                          </a:solidFill>
                          <a:effectLst/>
                          <a:latin typeface="Times New Roman"/>
                        </a:rPr>
                        <a:t> protocol for autonomous vehicles.</a:t>
                      </a:r>
                      <a:endParaRPr lang="en-US" sz="1400">
                        <a:latin typeface="Times New Roman"/>
                      </a:endParaRPr>
                    </a:p>
                  </a:txBody>
                  <a:tcPr/>
                </a:tc>
                <a:tc>
                  <a:txBody>
                    <a:bodyPr/>
                    <a:lstStyle/>
                    <a:p>
                      <a:pPr lvl="0">
                        <a:buNone/>
                      </a:pPr>
                      <a:r>
                        <a:rPr lang="en-US" sz="1400" b="0" i="0" u="none" strike="noStrike" cap="none" noProof="0">
                          <a:solidFill>
                            <a:srgbClr val="0F1115"/>
                          </a:solidFill>
                          <a:effectLst/>
                          <a:latin typeface="Times New Roman"/>
                        </a:rPr>
                        <a:t>Practical validation </a:t>
                      </a:r>
                      <a:r>
                        <a:rPr lang="en-US" sz="1400" b="0" i="0" u="none" strike="noStrike" cap="none" noProof="0">
                          <a:solidFill>
                            <a:srgbClr val="0F1115"/>
                          </a:solidFill>
                          <a:effectLst/>
                          <a:latin typeface="Times New Roman"/>
                          <a:sym typeface="Arial"/>
                        </a:rPr>
                        <a:t>of </a:t>
                      </a:r>
                      <a:r>
                        <a:rPr lang="en-US" sz="1400" b="0" i="0" u="none" strike="noStrike" cap="none" noProof="0">
                          <a:solidFill>
                            <a:srgbClr val="0F1115"/>
                          </a:solidFill>
                          <a:effectLst/>
                          <a:latin typeface="Times New Roman"/>
                        </a:rPr>
                        <a:t>standard </a:t>
                      </a:r>
                      <a:r>
                        <a:rPr lang="en-US" sz="1400" b="0" i="0" u="none" strike="noStrike" cap="none" noProof="0">
                          <a:solidFill>
                            <a:srgbClr val="0F1115"/>
                          </a:solidFill>
                          <a:effectLst/>
                          <a:latin typeface="Times New Roman"/>
                          <a:sym typeface="Arial"/>
                        </a:rPr>
                        <a:t>MQTT</a:t>
                      </a:r>
                      <a:r>
                        <a:rPr lang="en-US" sz="1400" b="0" i="0" u="none" strike="noStrike" cap="none" noProof="0">
                          <a:solidFill>
                            <a:srgbClr val="0F1115"/>
                          </a:solidFill>
                          <a:effectLst/>
                          <a:latin typeface="Times New Roman"/>
                        </a:rPr>
                        <a:t> as</a:t>
                      </a:r>
                      <a:r>
                        <a:rPr lang="en-US" sz="1400" b="0" i="0" u="none" strike="noStrike" cap="none" noProof="0">
                          <a:solidFill>
                            <a:srgbClr val="0F1115"/>
                          </a:solidFill>
                          <a:effectLst/>
                          <a:latin typeface="Times New Roman"/>
                          <a:sym typeface="Arial"/>
                        </a:rPr>
                        <a:t> a </a:t>
                      </a:r>
                      <a:r>
                        <a:rPr lang="en-US" sz="1400" b="0" i="0" u="none" strike="noStrike" cap="none" noProof="0">
                          <a:solidFill>
                            <a:srgbClr val="0F1115"/>
                          </a:solidFill>
                          <a:effectLst/>
                          <a:latin typeface="Times New Roman"/>
                        </a:rPr>
                        <a:t>viable </a:t>
                      </a:r>
                      <a:r>
                        <a:rPr lang="en-US" sz="1400" b="0" i="0" u="none" strike="noStrike" cap="none" noProof="0">
                          <a:solidFill>
                            <a:srgbClr val="0F1115"/>
                          </a:solidFill>
                          <a:effectLst/>
                          <a:latin typeface="Times New Roman"/>
                          <a:sym typeface="Arial"/>
                        </a:rPr>
                        <a:t>and </a:t>
                      </a:r>
                      <a:r>
                        <a:rPr lang="en-US" sz="1400" b="0" i="0" u="none" strike="noStrike" cap="none" noProof="0">
                          <a:solidFill>
                            <a:srgbClr val="0F1115"/>
                          </a:solidFill>
                          <a:effectLst/>
                          <a:latin typeface="Times New Roman"/>
                        </a:rPr>
                        <a:t>efficient backbone for building </a:t>
                      </a:r>
                      <a:r>
                        <a:rPr lang="en-US" sz="1400" b="0" i="0" u="none" strike="noStrike" cap="none" noProof="0">
                          <a:solidFill>
                            <a:srgbClr val="0F1115"/>
                          </a:solidFill>
                          <a:effectLst/>
                          <a:latin typeface="Times New Roman"/>
                          <a:sym typeface="Arial"/>
                        </a:rPr>
                        <a:t>a real-time</a:t>
                      </a:r>
                      <a:r>
                        <a:rPr lang="en-US" sz="1400" b="0" i="0" u="none" strike="noStrike" cap="none" noProof="0">
                          <a:solidFill>
                            <a:srgbClr val="0F1115"/>
                          </a:solidFill>
                          <a:effectLst/>
                          <a:latin typeface="Times New Roman"/>
                        </a:rPr>
                        <a:t> autonomous vehicle monitoring and management system.</a:t>
                      </a:r>
                      <a:endParaRPr lang="en-US" sz="1400" b="0">
                        <a:latin typeface="Times New Roman"/>
                      </a:endParaRPr>
                    </a:p>
                  </a:txBody>
                  <a:tcPr/>
                </a:tc>
                <a:extLst>
                  <a:ext uri="{0D108BD9-81ED-4DB2-BD59-A6C34878D82A}">
                    <a16:rowId xmlns:a16="http://schemas.microsoft.com/office/drawing/2014/main" xmlns="" val="378587433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latin typeface="Times New Roman"/>
                          <a:cs typeface="Times New Roman"/>
                        </a:rPr>
                        <a:t>[5]</a:t>
                      </a:r>
                      <a:r>
                        <a:rPr lang="en-US" sz="1400" b="1">
                          <a:latin typeface="Times New Roman"/>
                          <a:cs typeface="Times New Roman"/>
                        </a:rPr>
                        <a:t> </a:t>
                      </a:r>
                      <a:r>
                        <a:rPr lang="en-IN" sz="1400" b="1" i="0" u="none" strike="noStrike" cap="none">
                          <a:solidFill>
                            <a:schemeClr val="dk1"/>
                          </a:solidFill>
                          <a:effectLst/>
                          <a:latin typeface="Times New Roman"/>
                          <a:ea typeface="+mn-ea"/>
                          <a:cs typeface="+mn-cs"/>
                          <a:sym typeface="Arial"/>
                        </a:rPr>
                        <a:t> </a:t>
                      </a:r>
                      <a:r>
                        <a:rPr lang="en-US" sz="1400" b="0" i="0" u="none" strike="noStrike" cap="none">
                          <a:solidFill>
                            <a:schemeClr val="dk1"/>
                          </a:solidFill>
                          <a:effectLst/>
                          <a:latin typeface="Times New Roman"/>
                          <a:ea typeface="+mn-ea"/>
                          <a:cs typeface="+mn-cs"/>
                          <a:sym typeface="Arial"/>
                        </a:rPr>
                        <a:t>L. Zhang et al., </a:t>
                      </a:r>
                      <a:r>
                        <a:rPr lang="en-US" sz="1400" b="1" i="0" u="none" strike="noStrike" cap="none">
                          <a:solidFill>
                            <a:schemeClr val="dk1"/>
                          </a:solidFill>
                          <a:effectLst/>
                          <a:latin typeface="Times New Roman"/>
                          <a:ea typeface="+mn-ea"/>
                          <a:cs typeface="+mn-cs"/>
                          <a:sym typeface="Arial"/>
                        </a:rPr>
                        <a:t>Digital Twin-Driven Fleet Management for Smart Logistics: A Cloud-Edge Framework </a:t>
                      </a:r>
                      <a:r>
                        <a:rPr lang="en-US" sz="1400">
                          <a:latin typeface="Times New Roman"/>
                          <a:cs typeface="Times New Roman"/>
                        </a:rPr>
                        <a:t>(2024)​</a:t>
                      </a:r>
                    </a:p>
                    <a:p>
                      <a:endParaRPr lang="en-IN">
                        <a:latin typeface="Times New Roman"/>
                      </a:endParaRPr>
                    </a:p>
                  </a:txBody>
                  <a:tcPr/>
                </a:tc>
                <a:tc>
                  <a:txBody>
                    <a:bodyPr/>
                    <a:lstStyle/>
                    <a:p>
                      <a:pPr lvl="0">
                        <a:buNone/>
                      </a:pPr>
                      <a:r>
                        <a:rPr lang="en-US" sz="1400" b="0" i="0" u="none" strike="noStrike" cap="none" noProof="0">
                          <a:solidFill>
                            <a:srgbClr val="0F1115"/>
                          </a:solidFill>
                          <a:effectLst/>
                          <a:latin typeface="Times New Roman"/>
                          <a:sym typeface="Arial"/>
                        </a:rPr>
                        <a:t>A </a:t>
                      </a:r>
                      <a:r>
                        <a:rPr lang="en-US" sz="1400" b="0" i="0" u="none" strike="noStrike" cap="none" noProof="0">
                          <a:solidFill>
                            <a:srgbClr val="0F1115"/>
                          </a:solidFill>
                          <a:effectLst/>
                          <a:latin typeface="Times New Roman"/>
                        </a:rPr>
                        <a:t>conceptual cloud-edge </a:t>
                      </a:r>
                      <a:r>
                        <a:rPr lang="en-US" sz="1400" b="0" i="0" u="none" strike="noStrike" cap="none" noProof="0">
                          <a:solidFill>
                            <a:srgbClr val="0F1115"/>
                          </a:solidFill>
                          <a:effectLst/>
                          <a:latin typeface="Times New Roman"/>
                          <a:sym typeface="Arial"/>
                        </a:rPr>
                        <a:t>digital </a:t>
                      </a:r>
                      <a:r>
                        <a:rPr lang="en-US" sz="1400" b="0" i="0" u="none" strike="noStrike" cap="none" noProof="0">
                          <a:solidFill>
                            <a:srgbClr val="0F1115"/>
                          </a:solidFill>
                          <a:effectLst/>
                          <a:latin typeface="Times New Roman"/>
                        </a:rPr>
                        <a:t>twin </a:t>
                      </a:r>
                      <a:r>
                        <a:rPr lang="en-US" sz="1400" b="0" i="0" u="none" strike="noStrike" cap="none" noProof="0">
                          <a:solidFill>
                            <a:srgbClr val="0F1115"/>
                          </a:solidFill>
                          <a:effectLst/>
                          <a:latin typeface="Times New Roman"/>
                          <a:sym typeface="Arial"/>
                        </a:rPr>
                        <a:t>framework for </a:t>
                      </a:r>
                      <a:r>
                        <a:rPr lang="en-US" sz="1400" b="0" i="0" u="none" strike="noStrike" cap="none" noProof="0">
                          <a:solidFill>
                            <a:srgbClr val="0F1115"/>
                          </a:solidFill>
                          <a:effectLst/>
                          <a:latin typeface="Times New Roman"/>
                        </a:rPr>
                        <a:t>high-level fleet optimization in</a:t>
                      </a:r>
                      <a:r>
                        <a:rPr lang="en-US" sz="1400" b="0" i="0" u="none" strike="noStrike" cap="none" noProof="0">
                          <a:solidFill>
                            <a:srgbClr val="0F1115"/>
                          </a:solidFill>
                          <a:effectLst/>
                          <a:latin typeface="Times New Roman"/>
                          <a:sym typeface="Arial"/>
                        </a:rPr>
                        <a:t> logistics.</a:t>
                      </a:r>
                      <a:endParaRPr lang="en-US" sz="1400" noProof="0">
                        <a:solidFill>
                          <a:srgbClr val="0F1115"/>
                        </a:solidFill>
                        <a:latin typeface="Times New Roman"/>
                      </a:endParaRPr>
                    </a:p>
                  </a:txBody>
                  <a:tcPr/>
                </a:tc>
                <a:tc>
                  <a:txBody>
                    <a:bodyPr/>
                    <a:lstStyle/>
                    <a:p>
                      <a:pPr lvl="0">
                        <a:buNone/>
                      </a:pPr>
                      <a:r>
                        <a:rPr lang="en-US" sz="1400" b="0" i="0" u="none" strike="noStrike" cap="none" noProof="0">
                          <a:solidFill>
                            <a:srgbClr val="0F1115"/>
                          </a:solidFill>
                          <a:effectLst/>
                          <a:latin typeface="Times New Roman"/>
                        </a:rPr>
                        <a:t>A working</a:t>
                      </a:r>
                      <a:r>
                        <a:rPr lang="en-US" sz="1400" b="0" i="0" u="none" strike="noStrike" cap="none" noProof="0">
                          <a:solidFill>
                            <a:srgbClr val="0F1115"/>
                          </a:solidFill>
                          <a:effectLst/>
                          <a:latin typeface="Times New Roman"/>
                          <a:sym typeface="Arial"/>
                        </a:rPr>
                        <a:t>, </a:t>
                      </a:r>
                      <a:r>
                        <a:rPr lang="en-US" sz="1400" b="0" i="0" u="none" strike="noStrike" cap="none" noProof="0">
                          <a:solidFill>
                            <a:srgbClr val="0F1115"/>
                          </a:solidFill>
                          <a:effectLst/>
                          <a:latin typeface="Times New Roman"/>
                        </a:rPr>
                        <a:t>lightweight foundation that provides the essential real-time data pipeline </a:t>
                      </a:r>
                      <a:r>
                        <a:rPr lang="en-US" sz="1400" b="0" i="0" u="none" strike="noStrike" cap="none" noProof="0">
                          <a:solidFill>
                            <a:srgbClr val="0F1115"/>
                          </a:solidFill>
                          <a:effectLst/>
                          <a:latin typeface="Times New Roman"/>
                          <a:sym typeface="Arial"/>
                        </a:rPr>
                        <a:t>and </a:t>
                      </a:r>
                      <a:r>
                        <a:rPr lang="en-US" sz="1400" b="0" i="0" u="none" strike="noStrike" cap="none" noProof="0">
                          <a:solidFill>
                            <a:srgbClr val="0F1115"/>
                          </a:solidFill>
                          <a:effectLst/>
                          <a:latin typeface="Times New Roman"/>
                        </a:rPr>
                        <a:t>visualization necessary </a:t>
                      </a:r>
                      <a:r>
                        <a:rPr lang="en-US" sz="1400" b="0" i="0" u="none" strike="noStrike" cap="none" noProof="0">
                          <a:solidFill>
                            <a:srgbClr val="0F1115"/>
                          </a:solidFill>
                          <a:effectLst/>
                          <a:latin typeface="Times New Roman"/>
                          <a:sym typeface="Arial"/>
                        </a:rPr>
                        <a:t>for </a:t>
                      </a:r>
                      <a:r>
                        <a:rPr lang="en-US" sz="1400" b="0" i="0" u="none" strike="noStrike" cap="none" noProof="0">
                          <a:solidFill>
                            <a:srgbClr val="0F1115"/>
                          </a:solidFill>
                          <a:effectLst/>
                          <a:latin typeface="Times New Roman"/>
                        </a:rPr>
                        <a:t>such advanced digital twin systems</a:t>
                      </a:r>
                      <a:r>
                        <a:rPr lang="en-US" sz="1400" b="0" i="0" u="none" strike="noStrike" cap="none" noProof="0">
                          <a:solidFill>
                            <a:srgbClr val="0F1115"/>
                          </a:solidFill>
                          <a:effectLst/>
                          <a:latin typeface="Times New Roman"/>
                          <a:sym typeface="Arial"/>
                        </a:rPr>
                        <a:t>.</a:t>
                      </a:r>
                      <a:endParaRPr lang="en-US" sz="1400" b="0" noProof="0">
                        <a:solidFill>
                          <a:srgbClr val="0F1115"/>
                        </a:solidFill>
                        <a:latin typeface="Times New Roman"/>
                      </a:endParaRPr>
                    </a:p>
                  </a:txBody>
                  <a:tcPr/>
                </a:tc>
                <a:extLst>
                  <a:ext uri="{0D108BD9-81ED-4DB2-BD59-A6C34878D82A}">
                    <a16:rowId xmlns:a16="http://schemas.microsoft.com/office/drawing/2014/main" xmlns="" val="2594165525"/>
                  </a:ext>
                </a:extLst>
              </a:tr>
            </a:tbl>
          </a:graphicData>
        </a:graphic>
      </p:graphicFrame>
    </p:spTree>
    <p:extLst>
      <p:ext uri="{BB962C8B-B14F-4D97-AF65-F5344CB8AC3E}">
        <p14:creationId xmlns:p14="http://schemas.microsoft.com/office/powerpoint/2010/main" val="2131457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3"/>
          <p:cNvSpPr txBox="1"/>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Discussion</a:t>
            </a:r>
            <a:r>
              <a:rPr lang="en-US" sz="4400" b="0" i="0" u="none">
                <a:solidFill>
                  <a:srgbClr val="000000"/>
                </a:solidFill>
                <a:latin typeface="Lustria"/>
                <a:ea typeface="Lustria"/>
                <a:cs typeface="Lustria"/>
                <a:sym typeface="Lustria"/>
              </a:rPr>
              <a:t> </a:t>
            </a:r>
            <a:endParaRPr/>
          </a:p>
        </p:txBody>
      </p:sp>
      <p:sp>
        <p:nvSpPr>
          <p:cNvPr id="163" name="Google Shape;163;p23"/>
          <p:cNvSpPr txBo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342900" indent="-342900" algn="just">
              <a:buSzPts val="2700"/>
              <a:buChar char="•"/>
            </a:pPr>
            <a:r>
              <a:rPr lang="en-US" sz="2200">
                <a:latin typeface="Times New Roman"/>
                <a:ea typeface="Lustria"/>
                <a:sym typeface="Lustria"/>
              </a:rPr>
              <a:t>Centralized monitoring enables both users and fleet operators to view and manage all vehicles in real time from a unified dual-dashboard system.</a:t>
            </a:r>
            <a:endParaRPr lang="en-US" sz="2200">
              <a:latin typeface="Times New Roman"/>
              <a:ea typeface="Lustria"/>
            </a:endParaRPr>
          </a:p>
          <a:p>
            <a:pPr marL="342900" indent="-342900" algn="just">
              <a:buSzPts val="2700"/>
              <a:buChar char="•"/>
            </a:pPr>
            <a:endParaRPr lang="en-US" sz="2200">
              <a:latin typeface="Times New Roman"/>
              <a:ea typeface="Lustria"/>
            </a:endParaRPr>
          </a:p>
          <a:p>
            <a:pPr marL="342900" indent="-342900" algn="just">
              <a:buSzPts val="2700"/>
              <a:buChar char="•"/>
            </a:pPr>
            <a:r>
              <a:rPr lang="en-US" sz="2200">
                <a:latin typeface="Times New Roman"/>
                <a:ea typeface="Lustria"/>
                <a:sym typeface="Lustria"/>
              </a:rPr>
              <a:t>The </a:t>
            </a:r>
            <a:r>
              <a:rPr lang="en-US" sz="2200" b="0" i="0" u="none">
                <a:solidFill>
                  <a:srgbClr val="000000"/>
                </a:solidFill>
                <a:latin typeface="Times New Roman"/>
                <a:ea typeface="Lustria"/>
                <a:sym typeface="Lustria"/>
              </a:rPr>
              <a:t>system </a:t>
            </a:r>
            <a:r>
              <a:rPr lang="en-US" sz="2200">
                <a:latin typeface="Times New Roman"/>
                <a:ea typeface="Lustria"/>
                <a:sym typeface="Lustria"/>
              </a:rPr>
              <a:t>uses MQTT for lightweight, low-latency, </a:t>
            </a:r>
            <a:r>
              <a:rPr lang="en-US" sz="2200" b="0" i="0" u="none">
                <a:solidFill>
                  <a:srgbClr val="000000"/>
                </a:solidFill>
                <a:latin typeface="Times New Roman"/>
                <a:ea typeface="Lustria"/>
                <a:sym typeface="Lustria"/>
              </a:rPr>
              <a:t>and </a:t>
            </a:r>
            <a:r>
              <a:rPr lang="en-US" sz="2200">
                <a:latin typeface="Times New Roman"/>
                <a:ea typeface="Lustria"/>
                <a:sym typeface="Lustria"/>
              </a:rPr>
              <a:t>scalable data transmission, unlike traditional heavy protocols such as HTTP.</a:t>
            </a:r>
            <a:endParaRPr lang="en-US" sz="2200">
              <a:latin typeface="Times New Roman"/>
            </a:endParaRPr>
          </a:p>
          <a:p>
            <a:pPr marL="342900" indent="-342900" algn="just">
              <a:buSzPts val="2700"/>
              <a:buChar char="•"/>
            </a:pPr>
            <a:endParaRPr lang="en-US" sz="2200">
              <a:latin typeface="Times New Roman"/>
              <a:ea typeface="Lustria"/>
            </a:endParaRPr>
          </a:p>
          <a:p>
            <a:pPr marL="342900" indent="-342900" algn="just">
              <a:buSzPts val="2700"/>
              <a:buChar char="•"/>
            </a:pPr>
            <a:r>
              <a:rPr lang="en-US" sz="2200">
                <a:latin typeface="Times New Roman"/>
                <a:ea typeface="Lustria"/>
                <a:sym typeface="Lustria"/>
              </a:rPr>
              <a:t>Mobile devices act as virtual vehicles, removing the need for costly physical hardware or simulators and allowing safe, rapid prototyping.</a:t>
            </a:r>
            <a:endParaRPr lang="en-US" sz="2200">
              <a:latin typeface="Times New Roman"/>
            </a:endParaRPr>
          </a:p>
          <a:p>
            <a:pPr marL="342900" indent="-342900" algn="just">
              <a:buSzPts val="2700"/>
              <a:buChar char="•"/>
            </a:pPr>
            <a:endParaRPr lang="en-US" sz="2200">
              <a:latin typeface="Times New Roman"/>
              <a:ea typeface="Lustria"/>
            </a:endParaRPr>
          </a:p>
          <a:p>
            <a:pPr marL="342900" indent="-342900" algn="just">
              <a:buSzPts val="2700"/>
              <a:buChar char="•"/>
            </a:pPr>
            <a:r>
              <a:rPr lang="en-US" sz="2200">
                <a:latin typeface="Times New Roman"/>
                <a:ea typeface="Lustria"/>
                <a:sym typeface="Lustria"/>
              </a:rPr>
              <a:t>Dynamic geofencing and speed-limit monitoring provide instant alerts, ensuring proactive safety </a:t>
            </a:r>
            <a:r>
              <a:rPr lang="en-US" sz="2200" b="0" i="0" u="none">
                <a:solidFill>
                  <a:srgbClr val="000000"/>
                </a:solidFill>
                <a:latin typeface="Times New Roman"/>
                <a:ea typeface="Lustria"/>
                <a:sym typeface="Lustria"/>
              </a:rPr>
              <a:t>and </a:t>
            </a:r>
            <a:r>
              <a:rPr lang="en-US" sz="2200">
                <a:latin typeface="Times New Roman"/>
                <a:ea typeface="Lustria"/>
                <a:sym typeface="Lustria"/>
              </a:rPr>
              <a:t>improved operational control</a:t>
            </a:r>
            <a:r>
              <a:rPr lang="en-US" sz="2200" b="0" i="0" u="none">
                <a:solidFill>
                  <a:srgbClr val="000000"/>
                </a:solidFill>
                <a:latin typeface="Times New Roman"/>
                <a:ea typeface="Lustria"/>
                <a:sym typeface="Lustria"/>
              </a:rPr>
              <a:t>.</a:t>
            </a:r>
            <a:endParaRPr sz="2200">
              <a:latin typeface="Times New Roman"/>
            </a:endParaRPr>
          </a:p>
          <a:p>
            <a:pPr marL="342900" marR="0" lvl="0" indent="-342900" algn="just">
              <a:lnSpc>
                <a:spcPct val="90000"/>
              </a:lnSpc>
              <a:spcBef>
                <a:spcPts val="0"/>
              </a:spcBef>
              <a:spcAft>
                <a:spcPts val="0"/>
              </a:spcAft>
              <a:buSzPts val="2700"/>
              <a:buChar char="•"/>
            </a:pPr>
            <a:endParaRPr lang="en-US" sz="2200" b="0" i="0" u="none">
              <a:solidFill>
                <a:srgbClr val="000000"/>
              </a:solidFill>
              <a:latin typeface="Times New Roman"/>
              <a:ea typeface="Lustria"/>
              <a:cs typeface="Lustria"/>
            </a:endParaRPr>
          </a:p>
        </p:txBody>
      </p:sp>
      <p:sp>
        <p:nvSpPr>
          <p:cNvPr id="164" name="Google Shape;164;p23"/>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65" name="Google Shape;165;p23"/>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p:nvPr/>
        </p:nvSpPr>
        <p:spPr>
          <a:xfrm>
            <a:off x="457200" y="115913"/>
            <a:ext cx="8229600" cy="90371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Conclusions</a:t>
            </a:r>
            <a:r>
              <a:rPr lang="en-US" sz="4400" b="0" i="0" u="none">
                <a:solidFill>
                  <a:srgbClr val="000000"/>
                </a:solidFill>
                <a:latin typeface="Lustria"/>
                <a:ea typeface="Lustria"/>
                <a:cs typeface="Lustria"/>
                <a:sym typeface="Lustria"/>
              </a:rPr>
              <a:t> </a:t>
            </a:r>
            <a:endParaRPr/>
          </a:p>
        </p:txBody>
      </p:sp>
      <p:sp>
        <p:nvSpPr>
          <p:cNvPr id="171" name="Google Shape;171;p24"/>
          <p:cNvSpPr txBox="1"/>
          <p:nvPr/>
        </p:nvSpPr>
        <p:spPr>
          <a:xfrm>
            <a:off x="457200" y="1045181"/>
            <a:ext cx="8229600" cy="5194154"/>
          </a:xfrm>
          <a:prstGeom prst="rect">
            <a:avLst/>
          </a:prstGeom>
          <a:noFill/>
          <a:ln>
            <a:noFill/>
          </a:ln>
        </p:spPr>
        <p:txBody>
          <a:bodyPr spcFirstLastPara="1" wrap="square" lIns="91425" tIns="45700" rIns="91425" bIns="45700" anchor="t" anchorCtr="0">
            <a:noAutofit/>
          </a:bodyPr>
          <a:lstStyle/>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This work  explains how real-time GPS tracking, accident monitoring, and fleet management can be applied to autonomous and semi-autonomous vehicles in a virtual environment</a:t>
            </a:r>
          </a:p>
          <a:p>
            <a:pPr marL="285750" indent="-285750" algn="just">
              <a:buFont typeface="Arial" panose="020B0604020202020204" pitchFamily="34" charset="0"/>
              <a:buChar char="•"/>
            </a:pPr>
            <a:endParaRPr lang="en-US"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 By making use of technologies such as MQTT, Termux, FastAPI, and WebSocket, the system makes communication and data sharing between vehicles and a central server simple and reliable </a:t>
            </a:r>
          </a:p>
          <a:p>
            <a:pPr marL="285750" indent="-285750" algn="just">
              <a:buFont typeface="Arial" panose="020B0604020202020204" pitchFamily="34" charset="0"/>
              <a:buChar char="•"/>
            </a:pPr>
            <a:endParaRPr lang="en-US"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 The platform comes with two main modes: User Mode for everyday users and Production Mode for fleet managers, each designed to give helpful insights into vehicle behavior and performance </a:t>
            </a:r>
          </a:p>
          <a:p>
            <a:pPr marL="285750" indent="-285750" algn="just">
              <a:buFont typeface="Arial" panose="020B0604020202020204" pitchFamily="34" charset="0"/>
              <a:buChar char="•"/>
            </a:pPr>
            <a:endParaRPr lang="en-IN"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By recreating vehicle interactions inside a controlled environment, this research  offers a cost-friendly and scalable method for testing autonomous systems before they are deployed on real roads .</a:t>
            </a:r>
          </a:p>
          <a:p>
            <a:pPr marL="285750" indent="-285750" algn="just">
              <a:buFont typeface="Arial" panose="020B0604020202020204" pitchFamily="34" charset="0"/>
              <a:buChar char="•"/>
            </a:pPr>
            <a:endParaRPr lang="en-US"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With live data visualization and a dashboard that supports fleet operations, the system aims to improve both safety and efficiency  </a:t>
            </a:r>
          </a:p>
          <a:p>
            <a:pPr marL="285750" indent="-285750" algn="just">
              <a:buFont typeface="Arial" panose="020B0604020202020204" pitchFamily="34" charset="0"/>
              <a:buChar char="•"/>
            </a:pPr>
            <a:endParaRPr lang="en-US"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This paper builds an important step towards reliable autonomous driving, and with stronger technology and development, it could be expanded into real-world use, supporting wider adoption </a:t>
            </a:r>
            <a:endParaRPr lang="en-IN" sz="16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sz="1600">
              <a:latin typeface="Times New Roman" panose="02020603050405020304" pitchFamily="18" charset="0"/>
              <a:cs typeface="Times New Roman" panose="02020603050405020304" pitchFamily="18" charset="0"/>
            </a:endParaRPr>
          </a:p>
          <a:p>
            <a:pPr marL="285750" marR="0" lvl="0" indent="-285750" algn="just" rtl="0">
              <a:lnSpc>
                <a:spcPct val="100000"/>
              </a:lnSpc>
              <a:spcBef>
                <a:spcPts val="0"/>
              </a:spcBef>
              <a:spcAft>
                <a:spcPts val="0"/>
              </a:spcAft>
              <a:buFont typeface="Arial" panose="020B0604020202020204" pitchFamily="34" charset="0"/>
              <a:buChar char="•"/>
            </a:pPr>
            <a:endParaRPr sz="16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72" name="Google Shape;172;p24"/>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73" name="Google Shape;173;p24"/>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5"/>
          <p:cNvSpPr txBox="1"/>
          <p:nvPr/>
        </p:nvSpPr>
        <p:spPr>
          <a:xfrm>
            <a:off x="457200" y="274637"/>
            <a:ext cx="8229600" cy="73997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Future </a:t>
            </a:r>
            <a:r>
              <a:rPr lang="en-US" sz="4400">
                <a:latin typeface="Times New Roman" panose="02020603050405020304" pitchFamily="18" charset="0"/>
                <a:ea typeface="Lustria"/>
                <a:cs typeface="Times New Roman" panose="02020603050405020304" pitchFamily="18" charset="0"/>
                <a:sym typeface="Lustria"/>
              </a:rPr>
              <a:t>Scope</a:t>
            </a: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 </a:t>
            </a:r>
            <a:endParaRPr>
              <a:latin typeface="Times New Roman" panose="02020603050405020304" pitchFamily="18" charset="0"/>
              <a:cs typeface="Times New Roman" panose="02020603050405020304" pitchFamily="18" charset="0"/>
            </a:endParaRPr>
          </a:p>
        </p:txBody>
      </p:sp>
      <p:sp>
        <p:nvSpPr>
          <p:cNvPr id="179" name="Google Shape;179;p25"/>
          <p:cNvSpPr txBox="1"/>
          <p:nvPr/>
        </p:nvSpPr>
        <p:spPr>
          <a:xfrm>
            <a:off x="457200" y="1165950"/>
            <a:ext cx="8229600" cy="4526100"/>
          </a:xfrm>
          <a:prstGeom prst="rect">
            <a:avLst/>
          </a:prstGeom>
          <a:noFill/>
          <a:ln>
            <a:noFill/>
          </a:ln>
        </p:spPr>
        <p:txBody>
          <a:bodyPr spcFirstLastPara="1" wrap="square" lIns="91425" tIns="45700" rIns="91425" bIns="45700" anchor="t" anchorCtr="0">
            <a:noAutofit/>
          </a:bodyPr>
          <a:lstStyle/>
          <a:p>
            <a:pPr marL="341312" lvl="0" indent="-341312" algn="just">
              <a:lnSpc>
                <a:spcPct val="90000"/>
              </a:lnSpc>
              <a:buSzPts val="2700"/>
              <a:buFont typeface="Arial"/>
              <a:buChar char="•"/>
            </a:pPr>
            <a:r>
              <a:rPr lang="en-US" sz="2000">
                <a:latin typeface="Times New Roman" panose="02020603050405020304" pitchFamily="18" charset="0"/>
                <a:cs typeface="Times New Roman" panose="02020603050405020304" pitchFamily="18" charset="0"/>
              </a:rPr>
              <a:t>The current system provides a foundational framework that can be extended in several impactful directions. First, the alert module can be enhanced by integrating with local emergency services. By enabling users to trigger direct calls to police, fire, or ambulance departments from the alert interface, the system could reduce emergency response times and significantly improve road safety.</a:t>
            </a:r>
          </a:p>
          <a:p>
            <a:pPr lvl="0" algn="just">
              <a:lnSpc>
                <a:spcPct val="90000"/>
              </a:lnSpc>
              <a:buSzPts val="2700"/>
            </a:pPr>
            <a:endParaRPr lang="en-US" sz="2000">
              <a:latin typeface="Times New Roman" panose="02020603050405020304" pitchFamily="18" charset="0"/>
              <a:cs typeface="Times New Roman" panose="02020603050405020304" pitchFamily="18" charset="0"/>
            </a:endParaRPr>
          </a:p>
          <a:p>
            <a:pPr marL="341312" lvl="0" indent="-341312" algn="just">
              <a:lnSpc>
                <a:spcPct val="90000"/>
              </a:lnSpc>
              <a:buSzPts val="2700"/>
              <a:buFont typeface="Arial"/>
              <a:buChar char="•"/>
            </a:pPr>
            <a:r>
              <a:rPr lang="en-US" sz="2000">
                <a:latin typeface="Times New Roman" panose="02020603050405020304" pitchFamily="18" charset="0"/>
                <a:cs typeface="Times New Roman" panose="02020603050405020304" pitchFamily="18" charset="0"/>
              </a:rPr>
              <a:t>Second, large-scale deployment requires extensive validation. Future efforts will focus on migrating the architecture to a cloud-based infrastructure to evaluate performance under thousands of concurrent vehicle nodes, ensuring scalability for urban fleet operations.</a:t>
            </a:r>
          </a:p>
          <a:p>
            <a:pPr lvl="0" algn="just">
              <a:lnSpc>
                <a:spcPct val="90000"/>
              </a:lnSpc>
              <a:buSzPts val="2700"/>
            </a:pPr>
            <a:endParaRPr lang="en-US" sz="2000">
              <a:latin typeface="Times New Roman" panose="02020603050405020304" pitchFamily="18" charset="0"/>
              <a:cs typeface="Times New Roman" panose="02020603050405020304" pitchFamily="18" charset="0"/>
            </a:endParaRPr>
          </a:p>
          <a:p>
            <a:pPr marL="341312" lvl="0" indent="-341312" algn="just">
              <a:lnSpc>
                <a:spcPct val="90000"/>
              </a:lnSpc>
              <a:buSzPts val="2700"/>
              <a:buFont typeface="Arial"/>
              <a:buChar char="•"/>
            </a:pPr>
            <a:r>
              <a:rPr lang="en-US" sz="2000">
                <a:latin typeface="Times New Roman" panose="02020603050405020304" pitchFamily="18" charset="0"/>
                <a:cs typeface="Times New Roman" panose="02020603050405020304" pitchFamily="18" charset="0"/>
              </a:rPr>
              <a:t>Finally, while the prototype effectively simulates a virtual environment, the ultimate goal is real-world deployment. The next phase will involve implementation on a fleet of physical test vehicles to collect field data, validate system behavior under real conditions, and refine algorithms for operational reliability and accuracy </a:t>
            </a:r>
            <a:endParaRPr sz="1800" b="0" i="0" u="none">
              <a:solidFill>
                <a:srgbClr val="000000"/>
              </a:solidFill>
              <a:latin typeface="Times New Roman" panose="02020603050405020304" pitchFamily="18" charset="0"/>
              <a:ea typeface="Lustria"/>
              <a:cs typeface="Times New Roman" panose="02020603050405020304" pitchFamily="18" charset="0"/>
              <a:sym typeface="Lustria"/>
            </a:endParaRPr>
          </a:p>
        </p:txBody>
      </p:sp>
      <p:sp>
        <p:nvSpPr>
          <p:cNvPr id="180" name="Google Shape;180;p25"/>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81" name="Google Shape;181;p25"/>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p:nvPr/>
        </p:nvSpPr>
        <p:spPr>
          <a:xfrm>
            <a:off x="457200" y="182613"/>
            <a:ext cx="8229600" cy="73859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References  </a:t>
            </a:r>
            <a:endParaRPr>
              <a:latin typeface="Times New Roman" panose="02020603050405020304" pitchFamily="18" charset="0"/>
              <a:cs typeface="Times New Roman" panose="02020603050405020304" pitchFamily="18" charset="0"/>
            </a:endParaRPr>
          </a:p>
        </p:txBody>
      </p:sp>
      <p:sp>
        <p:nvSpPr>
          <p:cNvPr id="187" name="Google Shape;187;p26"/>
          <p:cNvSpPr txBox="1"/>
          <p:nvPr/>
        </p:nvSpPr>
        <p:spPr>
          <a:xfrm>
            <a:off x="457200" y="1137145"/>
            <a:ext cx="8229600" cy="4951841"/>
          </a:xfrm>
          <a:prstGeom prst="rect">
            <a:avLst/>
          </a:prstGeom>
          <a:noFill/>
          <a:ln>
            <a:noFill/>
          </a:ln>
        </p:spPr>
        <p:txBody>
          <a:bodyPr spcFirstLastPara="1" wrap="square" lIns="91425" tIns="45700" rIns="91425" bIns="45700" anchor="t" anchorCtr="0">
            <a:noAutofit/>
          </a:bodyPr>
          <a:lstStyle/>
          <a:p>
            <a:pPr algn="just"/>
            <a:r>
              <a:rPr lang="en-IN" sz="1600" dirty="0">
                <a:latin typeface="Times New Roman"/>
                <a:cs typeface="Times New Roman"/>
              </a:rPr>
              <a:t>[1] H. I. Ali, H. </a:t>
            </a:r>
            <a:r>
              <a:rPr lang="en-IN" sz="1600" err="1">
                <a:latin typeface="Times New Roman"/>
                <a:cs typeface="Times New Roman"/>
              </a:rPr>
              <a:t>Kurunathan</a:t>
            </a:r>
            <a:r>
              <a:rPr lang="en-IN" sz="1600" dirty="0">
                <a:latin typeface="Times New Roman"/>
                <a:cs typeface="Times New Roman"/>
              </a:rPr>
              <a:t>, M. H. </a:t>
            </a:r>
            <a:r>
              <a:rPr lang="en-IN" sz="1600" err="1">
                <a:latin typeface="Times New Roman"/>
                <a:cs typeface="Times New Roman"/>
              </a:rPr>
              <a:t>Eldefrawy</a:t>
            </a:r>
            <a:r>
              <a:rPr lang="en-IN" sz="1600" dirty="0">
                <a:latin typeface="Times New Roman"/>
                <a:cs typeface="Times New Roman"/>
              </a:rPr>
              <a:t>, F. </a:t>
            </a:r>
            <a:r>
              <a:rPr lang="en-IN" sz="1600" err="1">
                <a:latin typeface="Times New Roman"/>
                <a:cs typeface="Times New Roman"/>
              </a:rPr>
              <a:t>Gruian</a:t>
            </a:r>
            <a:r>
              <a:rPr lang="en-IN" sz="1600" dirty="0">
                <a:latin typeface="Times New Roman"/>
                <a:cs typeface="Times New Roman"/>
              </a:rPr>
              <a:t>, and M. Jonsson, "Navigating the Challenges and Opportunities of Securing Internet of Autonomous Vehicles With Lightweight Authentication," </a:t>
            </a:r>
            <a:r>
              <a:rPr lang="en-IN" sz="1600" i="1" dirty="0">
                <a:latin typeface="Times New Roman"/>
                <a:cs typeface="Times New Roman"/>
              </a:rPr>
              <a:t>IEEE Access</a:t>
            </a:r>
            <a:r>
              <a:rPr lang="en-IN" sz="1600" dirty="0">
                <a:latin typeface="Times New Roman"/>
                <a:cs typeface="Times New Roman"/>
              </a:rPr>
              <a:t>, vol. 13, pp. 24207-24222, 2025, </a:t>
            </a:r>
            <a:r>
              <a:rPr lang="en-IN" sz="1600" err="1">
                <a:latin typeface="Times New Roman"/>
                <a:cs typeface="Times New Roman"/>
              </a:rPr>
              <a:t>doi</a:t>
            </a:r>
            <a:r>
              <a:rPr lang="en-IN" sz="1600" dirty="0">
                <a:latin typeface="Times New Roman"/>
                <a:cs typeface="Times New Roman"/>
              </a:rPr>
              <a:t>: 10.1109/ACCESS.2025.3537800.</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[2] J. Balcerek and P. Pawłowski, "Interaction-Based Vehicle Automation Model for Intelligent Vision Systems," </a:t>
            </a:r>
            <a:r>
              <a:rPr lang="en-IN" sz="1600" i="1" dirty="0">
                <a:latin typeface="Times New Roman"/>
                <a:cs typeface="Times New Roman"/>
              </a:rPr>
              <a:t>Electronics</a:t>
            </a:r>
            <a:r>
              <a:rPr lang="en-IN" sz="1600" dirty="0">
                <a:latin typeface="Times New Roman"/>
                <a:cs typeface="Times New Roman"/>
              </a:rPr>
              <a:t>, vol. 14, no. 17, p. 3406, 2025, </a:t>
            </a:r>
            <a:r>
              <a:rPr lang="en-IN" sz="1600" err="1">
                <a:latin typeface="Times New Roman"/>
                <a:cs typeface="Times New Roman"/>
              </a:rPr>
              <a:t>doi</a:t>
            </a:r>
            <a:r>
              <a:rPr lang="en-IN" sz="1600" dirty="0">
                <a:latin typeface="Times New Roman"/>
                <a:cs typeface="Times New Roman"/>
              </a:rPr>
              <a:t>: 10.3390/electronics14173406.</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[3] F. Oliva, E. Landolfi, G. Salzillo, A. Massa, S. M. </a:t>
            </a:r>
            <a:r>
              <a:rPr lang="en-IN" sz="1600" err="1">
                <a:latin typeface="Times New Roman"/>
                <a:cs typeface="Times New Roman"/>
              </a:rPr>
              <a:t>D’Onghia</a:t>
            </a:r>
            <a:r>
              <a:rPr lang="en-IN" sz="1600" dirty="0">
                <a:latin typeface="Times New Roman"/>
                <a:cs typeface="Times New Roman"/>
              </a:rPr>
              <a:t>, and A. Troiano, "Implementation and Testing of V2I Communication Strategies for Emergency Vehicle Priority and Pedestrian Safety in Urban Environments," </a:t>
            </a:r>
            <a:r>
              <a:rPr lang="en-IN" sz="1600" i="1" dirty="0">
                <a:latin typeface="Times New Roman"/>
                <a:cs typeface="Times New Roman"/>
              </a:rPr>
              <a:t>Sensors</a:t>
            </a:r>
            <a:r>
              <a:rPr lang="en-IN" sz="1600" dirty="0">
                <a:latin typeface="Times New Roman"/>
                <a:cs typeface="Times New Roman"/>
              </a:rPr>
              <a:t>, vol. 25, no. 2, p. 485, 2025, </a:t>
            </a:r>
            <a:r>
              <a:rPr lang="en-IN" sz="1600" err="1">
                <a:latin typeface="Times New Roman"/>
                <a:cs typeface="Times New Roman"/>
              </a:rPr>
              <a:t>doi</a:t>
            </a:r>
            <a:r>
              <a:rPr lang="en-IN" sz="1600" dirty="0">
                <a:latin typeface="Times New Roman"/>
                <a:cs typeface="Times New Roman"/>
              </a:rPr>
              <a:t>: 10.3390/s25020485.</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[4] S. G. Dharani, R. K. </a:t>
            </a:r>
            <a:r>
              <a:rPr lang="en-IN" sz="1600" err="1">
                <a:latin typeface="Times New Roman"/>
                <a:cs typeface="Times New Roman"/>
              </a:rPr>
              <a:t>Megalingam</a:t>
            </a:r>
            <a:r>
              <a:rPr lang="en-IN" sz="1600" dirty="0">
                <a:latin typeface="Times New Roman"/>
                <a:cs typeface="Times New Roman"/>
              </a:rPr>
              <a:t>, and A. K. K., "A Novel MQTT-Based Secure and Efficient Data Transmission Protocol for Autonomous Vehicles," in </a:t>
            </a:r>
            <a:r>
              <a:rPr lang="en-IN" sz="1600" i="1" dirty="0">
                <a:latin typeface="Times New Roman"/>
                <a:cs typeface="Times New Roman"/>
              </a:rPr>
              <a:t>2024 IEEE International Conference on Communications (ICC)</a:t>
            </a:r>
            <a:r>
              <a:rPr lang="en-IN" sz="1600" dirty="0">
                <a:latin typeface="Times New Roman"/>
                <a:cs typeface="Times New Roman"/>
              </a:rPr>
              <a:t>, Denver, CO, USA, 2024, pp. 1-6, </a:t>
            </a:r>
            <a:r>
              <a:rPr lang="en-IN" sz="1600" err="1">
                <a:latin typeface="Times New Roman"/>
                <a:cs typeface="Times New Roman"/>
              </a:rPr>
              <a:t>doi</a:t>
            </a:r>
            <a:r>
              <a:rPr lang="en-IN" sz="1600" dirty="0">
                <a:latin typeface="Times New Roman"/>
                <a:cs typeface="Times New Roman"/>
              </a:rPr>
              <a:t>: 10.1109/ICC.2024.10578890.</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[5] L. Zhang, W. Li, and C. Wang, "Digital Twin-Driven Fleet Management for Smart Logistics: A Cloud-Edge Framework," </a:t>
            </a:r>
            <a:r>
              <a:rPr lang="en-IN" sz="1600" i="1" dirty="0">
                <a:latin typeface="Times New Roman"/>
                <a:cs typeface="Times New Roman"/>
              </a:rPr>
              <a:t>IEEE Internet of Things Journal</a:t>
            </a:r>
            <a:r>
              <a:rPr lang="en-IN" sz="1600" dirty="0">
                <a:latin typeface="Times New Roman"/>
                <a:cs typeface="Times New Roman"/>
              </a:rPr>
              <a:t>, vol. 11, no. 5, pp. 8624-8637, 1 March1, 2024, </a:t>
            </a:r>
            <a:r>
              <a:rPr lang="en-IN" sz="1600" err="1">
                <a:latin typeface="Times New Roman"/>
                <a:cs typeface="Times New Roman"/>
              </a:rPr>
              <a:t>doi</a:t>
            </a:r>
            <a:r>
              <a:rPr lang="en-IN" sz="1600" dirty="0">
                <a:latin typeface="Times New Roman"/>
                <a:cs typeface="Times New Roman"/>
              </a:rPr>
              <a:t>: 10.1109/JIOT.2023.3324322.</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188" name="Google Shape;188;p26"/>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89" name="Google Shape;189;p26"/>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p:nvPr/>
        </p:nvSpPr>
        <p:spPr>
          <a:xfrm>
            <a:off x="457200" y="182613"/>
            <a:ext cx="8229600" cy="73859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a:solidFill>
                  <a:srgbClr val="000000"/>
                </a:solidFill>
                <a:latin typeface="Times New Roman" panose="02020603050405020304" pitchFamily="18" charset="0"/>
                <a:ea typeface="Lustria"/>
                <a:cs typeface="Times New Roman" panose="02020603050405020304" pitchFamily="18" charset="0"/>
                <a:sym typeface="Lustria"/>
              </a:rPr>
              <a:t>References  </a:t>
            </a:r>
            <a:endParaRPr>
              <a:latin typeface="Times New Roman" panose="02020603050405020304" pitchFamily="18" charset="0"/>
              <a:cs typeface="Times New Roman" panose="02020603050405020304" pitchFamily="18" charset="0"/>
            </a:endParaRPr>
          </a:p>
        </p:txBody>
      </p:sp>
      <p:sp>
        <p:nvSpPr>
          <p:cNvPr id="187" name="Google Shape;187;p26"/>
          <p:cNvSpPr txBox="1"/>
          <p:nvPr/>
        </p:nvSpPr>
        <p:spPr>
          <a:xfrm>
            <a:off x="457201" y="1065287"/>
            <a:ext cx="8249266" cy="5164741"/>
          </a:xfrm>
          <a:prstGeom prst="rect">
            <a:avLst/>
          </a:prstGeom>
          <a:noFill/>
          <a:ln>
            <a:noFill/>
          </a:ln>
        </p:spPr>
        <p:txBody>
          <a:bodyPr spcFirstLastPara="1" wrap="square" lIns="91425" tIns="45700" rIns="91425" bIns="45700" anchor="t" anchorCtr="0">
            <a:noAutofit/>
          </a:bodyPr>
          <a:lstStyle/>
          <a:p>
            <a:pPr algn="just"/>
            <a:r>
              <a:rPr lang="en-IN" sz="1600" dirty="0">
                <a:latin typeface="Times New Roman"/>
                <a:cs typeface="Times New Roman"/>
              </a:rPr>
              <a:t>[6] I. </a:t>
            </a:r>
            <a:r>
              <a:rPr lang="en-IN" sz="1600" dirty="0" err="1">
                <a:latin typeface="Times New Roman"/>
                <a:cs typeface="Times New Roman"/>
              </a:rPr>
              <a:t>Argui</a:t>
            </a:r>
            <a:r>
              <a:rPr lang="en-IN" sz="1600" dirty="0">
                <a:latin typeface="Times New Roman"/>
                <a:cs typeface="Times New Roman"/>
              </a:rPr>
              <a:t>, M. </a:t>
            </a:r>
            <a:r>
              <a:rPr lang="en-IN" sz="1600" dirty="0" err="1">
                <a:latin typeface="Times New Roman"/>
                <a:cs typeface="Times New Roman"/>
              </a:rPr>
              <a:t>Gueriau</a:t>
            </a:r>
            <a:r>
              <a:rPr lang="en-IN" sz="1600" dirty="0">
                <a:latin typeface="Times New Roman"/>
                <a:cs typeface="Times New Roman"/>
              </a:rPr>
              <a:t>, and S. </a:t>
            </a:r>
            <a:r>
              <a:rPr lang="en-IN" sz="1600" dirty="0" err="1">
                <a:latin typeface="Times New Roman"/>
                <a:cs typeface="Times New Roman"/>
              </a:rPr>
              <a:t>Ainouz</a:t>
            </a:r>
            <a:r>
              <a:rPr lang="en-IN" sz="1600" dirty="0">
                <a:latin typeface="Times New Roman"/>
                <a:cs typeface="Times New Roman"/>
              </a:rPr>
              <a:t>, "Advancements in Mixed Reality for Autonomous Vehicle Testing and Advanced Driver Assistance Systems: A Survey," </a:t>
            </a:r>
            <a:r>
              <a:rPr lang="en-IN" sz="1600" i="1" dirty="0">
                <a:latin typeface="Times New Roman"/>
                <a:cs typeface="Times New Roman"/>
              </a:rPr>
              <a:t>IEEE Trans. </a:t>
            </a:r>
            <a:r>
              <a:rPr lang="en-IN" sz="1600" i="1" dirty="0" err="1">
                <a:latin typeface="Times New Roman"/>
                <a:cs typeface="Times New Roman"/>
              </a:rPr>
              <a:t>Intell</a:t>
            </a:r>
            <a:r>
              <a:rPr lang="en-IN" sz="1600" i="1" dirty="0">
                <a:latin typeface="Times New Roman"/>
                <a:cs typeface="Times New Roman"/>
              </a:rPr>
              <a:t>. Transp. Syst.</a:t>
            </a:r>
            <a:r>
              <a:rPr lang="en-IN" sz="1600" dirty="0">
                <a:latin typeface="Times New Roman"/>
                <a:cs typeface="Times New Roman"/>
              </a:rPr>
              <a:t>, vol. 25, no. 12, pp. 19276-19294, Dec. 2024, </a:t>
            </a:r>
            <a:r>
              <a:rPr lang="en-IN" sz="1600" dirty="0" err="1">
                <a:latin typeface="Times New Roman"/>
                <a:cs typeface="Times New Roman"/>
              </a:rPr>
              <a:t>doi</a:t>
            </a:r>
            <a:r>
              <a:rPr lang="en-IN" sz="1600" dirty="0">
                <a:latin typeface="Times New Roman"/>
                <a:cs typeface="Times New Roman"/>
              </a:rPr>
              <a:t>: 10.1109/TITS.2024.3473740.</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[7] I. Ud Din, A. </a:t>
            </a:r>
            <a:r>
              <a:rPr lang="en-IN" sz="1600" err="1">
                <a:latin typeface="Times New Roman"/>
                <a:cs typeface="Times New Roman"/>
              </a:rPr>
              <a:t>Almogren</a:t>
            </a:r>
            <a:r>
              <a:rPr lang="en-IN" sz="1600" dirty="0">
                <a:latin typeface="Times New Roman"/>
                <a:cs typeface="Times New Roman"/>
              </a:rPr>
              <a:t>, and J. J. P. C. Rodrigues, "</a:t>
            </a:r>
            <a:r>
              <a:rPr lang="en-IN" sz="1600" err="1">
                <a:latin typeface="Times New Roman"/>
                <a:cs typeface="Times New Roman"/>
              </a:rPr>
              <a:t>AIoT</a:t>
            </a:r>
            <a:r>
              <a:rPr lang="en-IN" sz="1600" dirty="0">
                <a:latin typeface="Times New Roman"/>
                <a:cs typeface="Times New Roman"/>
              </a:rPr>
              <a:t> Integration in Autonomous Vehicles: Enhancing Road Cooperation and Traffic Management," </a:t>
            </a:r>
            <a:r>
              <a:rPr lang="en-IN" sz="1600" i="1" dirty="0">
                <a:latin typeface="Times New Roman"/>
                <a:cs typeface="Times New Roman"/>
              </a:rPr>
              <a:t>IEEE Internet Things J.</a:t>
            </a:r>
            <a:r>
              <a:rPr lang="en-IN" sz="1600" dirty="0">
                <a:latin typeface="Times New Roman"/>
                <a:cs typeface="Times New Roman"/>
              </a:rPr>
              <a:t>, vol. 11, no. 22, pp. 35942-35949, 15 Nov. 2024, </a:t>
            </a:r>
            <a:r>
              <a:rPr lang="en-IN" sz="1600" err="1">
                <a:latin typeface="Times New Roman"/>
                <a:cs typeface="Times New Roman"/>
              </a:rPr>
              <a:t>doi</a:t>
            </a:r>
            <a:r>
              <a:rPr lang="en-IN" sz="1600" dirty="0">
                <a:latin typeface="Times New Roman"/>
                <a:cs typeface="Times New Roman"/>
              </a:rPr>
              <a:t>: 10.1109/JIOT.2024.3387927.</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[8] S. Lakshminarayana, A. Praseed, and P. S. </a:t>
            </a:r>
            <a:r>
              <a:rPr lang="en-IN" sz="1600" err="1">
                <a:latin typeface="Times New Roman"/>
                <a:cs typeface="Times New Roman"/>
              </a:rPr>
              <a:t>Thilagam</a:t>
            </a:r>
            <a:r>
              <a:rPr lang="en-IN" sz="1600" dirty="0">
                <a:latin typeface="Times New Roman"/>
                <a:cs typeface="Times New Roman"/>
              </a:rPr>
              <a:t>, "Securing the IoT Application Layer From an MQTT Protocol Perspective: Challenges and Research Prospects," </a:t>
            </a:r>
            <a:r>
              <a:rPr lang="en-IN" sz="1600" i="1" dirty="0">
                <a:latin typeface="Times New Roman"/>
                <a:cs typeface="Times New Roman"/>
              </a:rPr>
              <a:t>IEEE Commun. </a:t>
            </a:r>
            <a:r>
              <a:rPr lang="en-IN" sz="1600" i="1" err="1">
                <a:latin typeface="Times New Roman"/>
                <a:cs typeface="Times New Roman"/>
              </a:rPr>
              <a:t>Surv</a:t>
            </a:r>
            <a:r>
              <a:rPr lang="en-IN" sz="1600" i="1" dirty="0">
                <a:latin typeface="Times New Roman"/>
                <a:cs typeface="Times New Roman"/>
              </a:rPr>
              <a:t>. Tutor.</a:t>
            </a:r>
            <a:r>
              <a:rPr lang="en-IN" sz="1600" dirty="0">
                <a:latin typeface="Times New Roman"/>
                <a:cs typeface="Times New Roman"/>
              </a:rPr>
              <a:t>, vol. 26, no. 4, pp. 2510-2546, </a:t>
            </a:r>
            <a:r>
              <a:rPr lang="en-IN" sz="1600" err="1">
                <a:latin typeface="Times New Roman"/>
                <a:cs typeface="Times New Roman"/>
              </a:rPr>
              <a:t>Fourthquarter</a:t>
            </a:r>
            <a:r>
              <a:rPr lang="en-IN" sz="1600" dirty="0">
                <a:latin typeface="Times New Roman"/>
                <a:cs typeface="Times New Roman"/>
              </a:rPr>
              <a:t> 2024, </a:t>
            </a:r>
            <a:r>
              <a:rPr lang="en-IN" sz="1600" err="1">
                <a:latin typeface="Times New Roman"/>
                <a:cs typeface="Times New Roman"/>
              </a:rPr>
              <a:t>doi</a:t>
            </a:r>
            <a:r>
              <a:rPr lang="en-IN" sz="1600" dirty="0">
                <a:latin typeface="Times New Roman"/>
                <a:cs typeface="Times New Roman"/>
              </a:rPr>
              <a:t>: 10.1109/COMST.2024.3372630.</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[9] M. A. Al-</a:t>
            </a:r>
            <a:r>
              <a:rPr lang="en-IN" sz="1600" err="1">
                <a:latin typeface="Times New Roman"/>
                <a:cs typeface="Times New Roman"/>
              </a:rPr>
              <a:t>Shareefi</a:t>
            </a:r>
            <a:r>
              <a:rPr lang="en-IN" sz="1600" dirty="0">
                <a:latin typeface="Times New Roman"/>
                <a:cs typeface="Times New Roman"/>
              </a:rPr>
              <a:t>, S. H. Al-Majidi, and H. A. Al-</a:t>
            </a:r>
            <a:r>
              <a:rPr lang="en-IN" sz="1600" err="1">
                <a:latin typeface="Times New Roman"/>
                <a:cs typeface="Times New Roman"/>
              </a:rPr>
              <a:t>Raweshidy</a:t>
            </a:r>
            <a:r>
              <a:rPr lang="en-IN" sz="1600" dirty="0">
                <a:latin typeface="Times New Roman"/>
                <a:cs typeface="Times New Roman"/>
              </a:rPr>
              <a:t>, "An Adaptive QoS Framework for MQTT Protocol in Vehicle-to-Infrastructure (V2I) Communication," </a:t>
            </a:r>
            <a:r>
              <a:rPr lang="en-IN" sz="1600" i="1" dirty="0">
                <a:latin typeface="Times New Roman"/>
                <a:cs typeface="Times New Roman"/>
              </a:rPr>
              <a:t>IEEE Transactions on Intelligent Transportation Systems</a:t>
            </a:r>
            <a:r>
              <a:rPr lang="en-IN" sz="1600" dirty="0">
                <a:latin typeface="Times New Roman"/>
                <a:cs typeface="Times New Roman"/>
              </a:rPr>
              <a:t>, vol. 24, no. 8, pp. 8878-8892, Aug. 2023, </a:t>
            </a:r>
            <a:r>
              <a:rPr lang="en-IN" sz="1600" err="1">
                <a:latin typeface="Times New Roman"/>
                <a:cs typeface="Times New Roman"/>
              </a:rPr>
              <a:t>doi</a:t>
            </a:r>
            <a:r>
              <a:rPr lang="en-IN" sz="1600" dirty="0">
                <a:latin typeface="Times New Roman"/>
                <a:cs typeface="Times New Roman"/>
              </a:rPr>
              <a:t>: 10.1109/TITS.2023.3268445.</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a:cs typeface="Times New Roman"/>
              </a:rPr>
              <a:t>[10] S. R. Pokhrel, "</a:t>
            </a:r>
            <a:r>
              <a:rPr lang="en-IN" sz="1600" err="1">
                <a:latin typeface="Times New Roman"/>
                <a:cs typeface="Times New Roman"/>
              </a:rPr>
              <a:t>Modeling</a:t>
            </a:r>
            <a:r>
              <a:rPr lang="en-IN" sz="1600" dirty="0">
                <a:latin typeface="Times New Roman"/>
                <a:cs typeface="Times New Roman"/>
              </a:rPr>
              <a:t> and Performance Analysis of Multipath Transport in Connected Autonomous Vehicles," </a:t>
            </a:r>
            <a:r>
              <a:rPr lang="en-IN" sz="1600" i="1" dirty="0">
                <a:latin typeface="Times New Roman"/>
                <a:cs typeface="Times New Roman"/>
              </a:rPr>
              <a:t>IEEE Trans. Mob. </a:t>
            </a:r>
            <a:r>
              <a:rPr lang="en-IN" sz="1600" i="1" err="1">
                <a:latin typeface="Times New Roman"/>
                <a:cs typeface="Times New Roman"/>
              </a:rPr>
              <a:t>Comput</a:t>
            </a:r>
            <a:r>
              <a:rPr lang="en-IN" sz="1600" i="1" dirty="0">
                <a:latin typeface="Times New Roman"/>
                <a:cs typeface="Times New Roman"/>
              </a:rPr>
              <a:t>.</a:t>
            </a:r>
            <a:r>
              <a:rPr lang="en-IN" sz="1600" dirty="0">
                <a:latin typeface="Times New Roman"/>
                <a:cs typeface="Times New Roman"/>
              </a:rPr>
              <a:t>, vol. 22, no. 6, pp. 3620-3635, 1 June 2023, </a:t>
            </a:r>
            <a:r>
              <a:rPr lang="en-IN" sz="1600" err="1">
                <a:latin typeface="Times New Roman"/>
                <a:cs typeface="Times New Roman"/>
              </a:rPr>
              <a:t>doi</a:t>
            </a:r>
            <a:r>
              <a:rPr lang="en-IN" sz="1600" dirty="0">
                <a:latin typeface="Times New Roman"/>
                <a:cs typeface="Times New Roman"/>
              </a:rPr>
              <a:t>: 10.1109/TMC.2022.3168311.</a:t>
            </a:r>
          </a:p>
        </p:txBody>
      </p:sp>
      <p:sp>
        <p:nvSpPr>
          <p:cNvPr id="188" name="Google Shape;188;p26"/>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89" name="Google Shape;189;p26"/>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extLst>
      <p:ext uri="{BB962C8B-B14F-4D97-AF65-F5344CB8AC3E}">
        <p14:creationId xmlns:p14="http://schemas.microsoft.com/office/powerpoint/2010/main" val="815250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p:nvPr/>
        </p:nvSpPr>
        <p:spPr>
          <a:xfrm>
            <a:off x="484632" y="2742933"/>
            <a:ext cx="8229600" cy="73859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Lustria"/>
              <a:buNone/>
            </a:pPr>
            <a:r>
              <a:rPr lang="en-US" sz="4400" b="0" i="0" u="none" dirty="0" smtClean="0">
                <a:solidFill>
                  <a:srgbClr val="000000"/>
                </a:solidFill>
                <a:latin typeface="Times New Roman" panose="02020603050405020304" pitchFamily="18" charset="0"/>
                <a:ea typeface="Lustria"/>
                <a:cs typeface="Times New Roman" panose="02020603050405020304" pitchFamily="18" charset="0"/>
                <a:sym typeface="Lustria"/>
              </a:rPr>
              <a:t>THANK YOU</a:t>
            </a:r>
            <a:endParaRPr dirty="0">
              <a:latin typeface="Times New Roman" panose="02020603050405020304" pitchFamily="18" charset="0"/>
              <a:cs typeface="Times New Roman" panose="02020603050405020304" pitchFamily="18" charset="0"/>
            </a:endParaRPr>
          </a:p>
        </p:txBody>
      </p:sp>
      <p:sp>
        <p:nvSpPr>
          <p:cNvPr id="188" name="Google Shape;188;p26"/>
          <p:cNvSpPr txBox="1"/>
          <p:nvPr/>
        </p:nvSpPr>
        <p:spPr>
          <a:xfrm>
            <a:off x="250825" y="6453187"/>
            <a:ext cx="6624600" cy="288900"/>
          </a:xfrm>
          <a:prstGeom prst="rect">
            <a:avLst/>
          </a:prstGeom>
          <a:noFill/>
          <a:ln>
            <a:noFill/>
          </a:ln>
        </p:spPr>
        <p:txBody>
          <a:bodyPr spcFirstLastPara="1" wrap="square" lIns="90000" tIns="46800" rIns="90000" bIns="46800" anchor="t" anchorCtr="0">
            <a:noAutofit/>
          </a:bodyPr>
          <a:lstStyle/>
          <a:p>
            <a:pPr lvl="0">
              <a:lnSpc>
                <a:spcPct val="80000"/>
              </a:lnSpc>
              <a:buClr>
                <a:srgbClr val="898989"/>
              </a:buClr>
              <a:buSzPts val="1500"/>
            </a:pPr>
            <a:r>
              <a:rPr lang="en-US" sz="1500" dirty="0">
                <a:solidFill>
                  <a:srgbClr val="898989"/>
                </a:solidFill>
                <a:latin typeface="Calibri"/>
                <a:ea typeface="Calibri"/>
                <a:cs typeface="Calibri"/>
                <a:sym typeface="Calibri"/>
              </a:rPr>
              <a:t>NCCT Conference</a:t>
            </a:r>
            <a:endParaRPr lang="en-US" sz="1600" dirty="0"/>
          </a:p>
        </p:txBody>
      </p:sp>
      <p:pic>
        <p:nvPicPr>
          <p:cNvPr id="189" name="Google Shape;189;p26"/>
          <p:cNvPicPr preferRelativeResize="0"/>
          <p:nvPr/>
        </p:nvPicPr>
        <p:blipFill rotWithShape="1">
          <a:blip r:embed="rId3">
            <a:alphaModFix/>
          </a:blip>
          <a:srcRect/>
          <a:stretch/>
        </p:blipFill>
        <p:spPr>
          <a:xfrm>
            <a:off x="7162800" y="6237287"/>
            <a:ext cx="2017712" cy="719137"/>
          </a:xfrm>
          <a:prstGeom prst="rect">
            <a:avLst/>
          </a:prstGeom>
          <a:noFill/>
          <a:ln>
            <a:noFill/>
          </a:ln>
        </p:spPr>
      </p:pic>
    </p:spTree>
    <p:extLst>
      <p:ext uri="{BB962C8B-B14F-4D97-AF65-F5344CB8AC3E}">
        <p14:creationId xmlns:p14="http://schemas.microsoft.com/office/powerpoint/2010/main" val="2836588062"/>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1288</Words>
  <Application>Microsoft Office PowerPoint</Application>
  <PresentationFormat>On-screen Show (4:3)</PresentationFormat>
  <Paragraphs>162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Lustria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Sharadhi Hegde</dc:creator>
  <cp:lastModifiedBy>ASUS</cp:lastModifiedBy>
  <cp:revision>25</cp:revision>
  <dcterms:modified xsi:type="dcterms:W3CDTF">2025-10-25T05:01:38Z</dcterms:modified>
</cp:coreProperties>
</file>